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0" r:id="rId4"/>
    <p:sldId id="259" r:id="rId5"/>
    <p:sldId id="268" r:id="rId6"/>
    <p:sldId id="263" r:id="rId7"/>
    <p:sldId id="264" r:id="rId8"/>
    <p:sldId id="266" r:id="rId9"/>
    <p:sldId id="265" r:id="rId10"/>
    <p:sldId id="267" r:id="rId11"/>
    <p:sldId id="269" r:id="rId12"/>
    <p:sldId id="270" r:id="rId13"/>
    <p:sldId id="272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5246" autoAdjust="0"/>
  </p:normalViewPr>
  <p:slideViewPr>
    <p:cSldViewPr snapToGrid="0">
      <p:cViewPr varScale="1">
        <p:scale>
          <a:sx n="94" d="100"/>
          <a:sy n="94" d="100"/>
        </p:scale>
        <p:origin x="5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movement(MB)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DAE-4AEE-9CC0-F564032FBA1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DAE-4AEE-9CC0-F564032FBA1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our approach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121</c:v>
                </c:pt>
                <c:pt idx="1">
                  <c:v>33.1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DAE-4AEE-9CC0-F564032FBA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0545951"/>
        <c:axId val="1930998223"/>
      </c:barChart>
      <c:catAx>
        <c:axId val="171054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30998223"/>
        <c:crosses val="autoZero"/>
        <c:auto val="1"/>
        <c:lblAlgn val="ctr"/>
        <c:lblOffset val="100"/>
        <c:noMultiLvlLbl val="0"/>
      </c:catAx>
      <c:valAx>
        <c:axId val="1930998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10545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751762048940288"/>
          <c:y val="4.476969784348768E-2"/>
          <c:w val="0.52214451698572539"/>
          <c:h val="0.8193315029321036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embedding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our approach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191.13</c:v>
                </c:pt>
                <c:pt idx="1">
                  <c:v>77.180000000000007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56-4FF4-8D9F-4E2F23D7AF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similarity search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our approach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107.17</c:v>
                </c:pt>
                <c:pt idx="1">
                  <c:v>56.98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56-4FF4-8D9F-4E2F23D7AF3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tokenization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our approach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28.4</c:v>
                </c:pt>
                <c:pt idx="1">
                  <c:v>27.2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56-4FF4-8D9F-4E2F23D7AF3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64947951"/>
        <c:axId val="1931208463"/>
      </c:barChart>
      <c:catAx>
        <c:axId val="1764947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31208463"/>
        <c:crosses val="autoZero"/>
        <c:auto val="1"/>
        <c:lblAlgn val="ctr"/>
        <c:lblOffset val="100"/>
        <c:noMultiLvlLbl val="0"/>
      </c:catAx>
      <c:valAx>
        <c:axId val="1931208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Latency (ms)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.301906746478332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4947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612479504135213"/>
          <c:y val="3.6870956733875936E-2"/>
          <c:w val="0.34387517372313497"/>
          <c:h val="0.278283955776582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9D8BC-AE43-4AAA-808C-D3E375A55568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DAC61-CD4D-42A8-9FBE-6E75F3979E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35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DAC61-CD4D-42A8-9FBE-6E75F3979EB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012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DAC61-CD4D-42A8-9FBE-6E75F3979EB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873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F9CC-F453-B3EA-4887-0B88BF06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C54EA6-B709-CF49-ACB0-71EB3BCA1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88B85D-3716-15EE-3103-878EFEE51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3086D5-407C-1935-04B5-FB8272665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DAC61-CD4D-42A8-9FBE-6E75F3979EB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032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12EFE-5576-6470-D03A-E8398192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14E650-13AF-DE02-1EE3-AA6E1C593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23FEB5-D3A6-7D91-C3E4-761F6A58A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E9B463-1AB9-ED17-B527-A14615997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DAC61-CD4D-42A8-9FBE-6E75F3979EB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488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19D7-34B8-219F-97AB-DC23B45C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A95B96-DDAF-EE0A-E116-17794A6DF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979F83-9AFC-05A2-3E1B-6DBE9E303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43B8A0-3F91-115D-D70C-C2138B4E3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DAC61-CD4D-42A8-9FBE-6E75F3979EB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05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8FF5-F7AC-118E-8C21-60E6D0B2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4591D0-3C5F-A357-0C61-060C9A2B8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1EFBFB-B45F-ECDF-9D48-C3791A92C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EBA781-8870-F255-0E3D-B9D8A121B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DAC61-CD4D-42A8-9FBE-6E75F3979EB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259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DAC61-CD4D-42A8-9FBE-6E75F3979EB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49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FEBFF-7CC2-330D-1E46-910F2114A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7423EA-C7E6-A114-8AE0-6238D9DAB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2A334B-2563-664C-B284-D04B759D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3B6AED-2941-A722-205A-AAD8122E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D37FDE-B378-CBB4-A91A-BDB6CD80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48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3FFFA-370A-97B9-2583-5D661B32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414CC5-CBA0-8058-CF9D-43BB549B5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CAB5E-A48D-A0CD-A551-041BD7341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AD525E-26C1-5DE2-E833-5CDEAE79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193180-77FB-06C8-6BD8-6FC2961B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00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C70EF-4470-C428-08FA-9284081D8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3EC866-A468-43BB-2959-A52FC5BA5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735F1B-9A95-0C55-5519-33A0FEF5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0267B-FA61-53D2-91A8-12F4CD48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526658-4D15-C7CA-52E1-57E82179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0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820CA-4AC1-7764-FF9B-AB39BF96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98F6B9-B220-86DC-4F16-09BE48912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4773B9-D470-1270-AD00-FFA58930D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A95D71-DBF6-0125-441C-22B8D4AB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E44A31-F43C-07B8-16EA-98F3C4DB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2248CB-F824-DA87-0C41-552AD682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10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E41A9-8C9C-09AF-BD27-F6152484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C3E0AA-27F4-C6C1-B0AF-51990515A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4B4666-53F4-E4EB-14A3-658C6FC4F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3C2ECD-E03A-9EF5-C011-835C3C010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B0371A-74CA-45AF-C73A-628FE1143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BA1B53-FACD-6129-DB0E-06A73E24E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30546E-CDE9-3875-6DBB-F90E10C9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EBC9C7-B563-B93D-D054-EBAA2F2B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80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66EFB-7615-D6EA-64E3-680212FF1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BB78B3-DCAD-E506-3283-A2651534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DE4F0C-734F-EC68-0277-BB9DF8C2B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0C6251-11D8-D787-FF99-6A512993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01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B4B027-204A-6DAF-0FC9-1F3A6C81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A59CE98-B535-BFE8-3088-59743550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36860D-ECDF-DAC2-EF9D-412707AB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35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EFD71-FE63-8D58-2C37-20756A839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F91BF-138B-7255-B550-315D8D262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A35190-6F2A-310E-EE85-14F82AB73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49D077-C9AC-F7B3-9D75-A4EA10D9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62F1A7-FF6E-08D5-5DA5-F90A4629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7AF0A6-018A-A64C-134E-22931032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692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646A2-E99A-BA90-BBA5-F81E00A3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C6D036-08B4-934E-438A-9E888DCD8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43E179-18D3-D6A3-9E7F-4EA741115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4A030B-AD9E-A7AE-4195-DAA1A9E7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6E8DD7-1E85-A54C-6B6D-DFF5DF4B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E6741D-65E5-00BE-ADEE-80272255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07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7D299-E332-D306-9C98-9DDDAFD4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CD369A-9705-0FF0-C518-DF398D474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83A0D-326B-4FC0-F202-0A0132277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9DBB7-7700-003D-0CC3-4E9BB104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83DEDE-6834-0001-1C10-F7CEBF77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836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22E5B1-7E32-536B-8BBE-33EC859AA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B18BC2-3852-D8E7-ED52-D7721AF3F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B3BA77-22CC-573D-F480-D4455E17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1027E-DDC2-E3B9-B669-ACDA97ED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180F3F-A783-827E-BD4E-5AC06AB6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11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47FB7A-1209-F109-F82D-20EEB6C89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F9A91-D74B-9EBB-9CEA-EB738D757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18595-1549-F696-7504-399A0CD6C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2984D-8999-4A09-BC49-1B793F437F62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5D9C7-6329-C494-C307-68000BB33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C0D96B-252F-B22E-FBAD-BEE73076E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6DBE2-17EE-4819-A24F-BE92EFFF4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20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E0B12-634C-7BAF-34BF-780AAF2A27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ko-KR" sz="4500" dirty="0" err="1"/>
              <a:t>Edge</a:t>
            </a:r>
            <a:r>
              <a:rPr lang="ko-KR" altLang="ko-KR" sz="4500" dirty="0"/>
              <a:t> 환경을 위한</a:t>
            </a:r>
            <a:br>
              <a:rPr lang="en-US" altLang="ko-KR" sz="4500" dirty="0"/>
            </a:br>
            <a:r>
              <a:rPr lang="ko-KR" altLang="ko-KR" sz="4500" dirty="0"/>
              <a:t>RAG Pipeline </a:t>
            </a:r>
            <a:r>
              <a:rPr lang="ko-KR" altLang="ko-KR" sz="4500" dirty="0" err="1"/>
              <a:t>Offloading</a:t>
            </a:r>
            <a:endParaRPr lang="ko-KR" altLang="en-US" sz="45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91D721-0B03-8A34-1C97-8CC83AD0E7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 </a:t>
            </a:r>
            <a:r>
              <a:rPr lang="ko-KR" altLang="en-US" dirty="0"/>
              <a:t>전기 졸업과제</a:t>
            </a:r>
            <a:endParaRPr lang="en-US" altLang="ko-KR" dirty="0"/>
          </a:p>
          <a:p>
            <a:r>
              <a:rPr lang="ko-KR" altLang="en-US" dirty="0"/>
              <a:t>팀 </a:t>
            </a:r>
            <a:r>
              <a:rPr lang="en-US" altLang="ko-KR" dirty="0"/>
              <a:t>: </a:t>
            </a:r>
            <a:r>
              <a:rPr lang="ko-KR" altLang="en-US" dirty="0" err="1"/>
              <a:t>오예스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20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FC55DC6-C944-3C64-407D-E3228124E0CE}"/>
              </a:ext>
            </a:extLst>
          </p:cNvPr>
          <p:cNvSpPr txBox="1"/>
          <p:nvPr/>
        </p:nvSpPr>
        <p:spPr>
          <a:xfrm>
            <a:off x="939114" y="605480"/>
            <a:ext cx="15616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LLM</a:t>
            </a:r>
            <a:endParaRPr lang="ko-KR" alt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6" name="그래픽 15" descr="인공 지능 윤곽선">
            <a:extLst>
              <a:ext uri="{FF2B5EF4-FFF2-40B4-BE49-F238E27FC236}">
                <a16:creationId xmlns:a16="http://schemas.microsoft.com/office/drawing/2014/main" id="{4E3BE416-AED2-EDB3-1006-CCBE70EAF4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3526" y="2366318"/>
            <a:ext cx="3131404" cy="3131404"/>
          </a:xfrm>
          <a:prstGeom prst="rect">
            <a:avLst/>
          </a:prstGeom>
        </p:spPr>
      </p:pic>
      <p:pic>
        <p:nvPicPr>
          <p:cNvPr id="19" name="그래픽 18" descr="물음표 단색으로 채워진">
            <a:extLst>
              <a:ext uri="{FF2B5EF4-FFF2-40B4-BE49-F238E27FC236}">
                <a16:creationId xmlns:a16="http://schemas.microsoft.com/office/drawing/2014/main" id="{670BCF9C-4A14-50BD-A70E-5C6169673E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0371" y="2137719"/>
            <a:ext cx="1563130" cy="156313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4716CCE-783B-685E-6E7D-8ADD5A909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775" y="1528336"/>
            <a:ext cx="4335166" cy="396938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EBB337F-4457-A6D4-B1E9-0FADAC9155C7}"/>
              </a:ext>
            </a:extLst>
          </p:cNvPr>
          <p:cNvSpPr txBox="1"/>
          <p:nvPr/>
        </p:nvSpPr>
        <p:spPr>
          <a:xfrm>
            <a:off x="6711775" y="5497722"/>
            <a:ext cx="6092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/>
              <a:t>출처: 한국일보(2024.05.25), </a:t>
            </a:r>
            <a:r>
              <a:rPr lang="ko-KR" altLang="ko-KR" sz="1400" dirty="0" err="1"/>
              <a:t>X</a:t>
            </a:r>
            <a:r>
              <a:rPr lang="ko-KR" altLang="ko-KR" sz="1400" dirty="0"/>
              <a:t> 캡처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273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F7A5-7DC2-F4EA-DADC-72597695C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8E5BB54-34E0-6D16-CC3D-D4DB9980D5DD}"/>
              </a:ext>
            </a:extLst>
          </p:cNvPr>
          <p:cNvSpPr txBox="1"/>
          <p:nvPr/>
        </p:nvSpPr>
        <p:spPr>
          <a:xfrm>
            <a:off x="939114" y="605480"/>
            <a:ext cx="16160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RAG</a:t>
            </a:r>
            <a:endParaRPr lang="ko-KR" alt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그림 2" descr="선반에 있는 파일">
            <a:extLst>
              <a:ext uri="{FF2B5EF4-FFF2-40B4-BE49-F238E27FC236}">
                <a16:creationId xmlns:a16="http://schemas.microsoft.com/office/drawing/2014/main" id="{610B61AE-002A-B04D-161B-A8B234A70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626" y="2294439"/>
            <a:ext cx="3027734" cy="3357170"/>
          </a:xfrm>
          <a:prstGeom prst="rect">
            <a:avLst/>
          </a:prstGeom>
        </p:spPr>
      </p:pic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10E92E1F-B7B4-2EF6-6D76-60384D4C57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657070" y="2407323"/>
            <a:ext cx="3131404" cy="3131404"/>
          </a:xfrm>
          <a:prstGeom prst="rect">
            <a:avLst/>
          </a:prstGeom>
        </p:spPr>
      </p:pic>
      <p:pic>
        <p:nvPicPr>
          <p:cNvPr id="7" name="그래픽 6" descr="덮인 책 윤곽선">
            <a:extLst>
              <a:ext uri="{FF2B5EF4-FFF2-40B4-BE49-F238E27FC236}">
                <a16:creationId xmlns:a16="http://schemas.microsoft.com/office/drawing/2014/main" id="{0C4372F9-7D18-364C-10AE-599AC62B31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1904" y="3013435"/>
            <a:ext cx="1919177" cy="1919177"/>
          </a:xfrm>
          <a:prstGeom prst="rect">
            <a:avLst/>
          </a:prstGeom>
        </p:spPr>
      </p:pic>
      <p:pic>
        <p:nvPicPr>
          <p:cNvPr id="9" name="그래픽 8" descr="전구">
            <a:extLst>
              <a:ext uri="{FF2B5EF4-FFF2-40B4-BE49-F238E27FC236}">
                <a16:creationId xmlns:a16="http://schemas.microsoft.com/office/drawing/2014/main" id="{AC394F5D-742A-E53D-E1E1-D37CBDFBBC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5503" y="605480"/>
            <a:ext cx="2180968" cy="218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45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0.28021 0.0034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10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D70E2F40-0B36-E2C6-742A-9D295DB3C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30298" y="2971800"/>
            <a:ext cx="3131404" cy="3131404"/>
          </a:xfrm>
          <a:prstGeom prst="rect">
            <a:avLst/>
          </a:prstGeom>
        </p:spPr>
      </p:pic>
      <p:pic>
        <p:nvPicPr>
          <p:cNvPr id="7" name="그래픽 6" descr="서적 단색으로 채워진">
            <a:extLst>
              <a:ext uri="{FF2B5EF4-FFF2-40B4-BE49-F238E27FC236}">
                <a16:creationId xmlns:a16="http://schemas.microsoft.com/office/drawing/2014/main" id="{0DA39EE8-80B2-6E94-2748-44414BF1B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2213" y="605480"/>
            <a:ext cx="1375719" cy="1375719"/>
          </a:xfrm>
          <a:prstGeom prst="rect">
            <a:avLst/>
          </a:prstGeom>
        </p:spPr>
      </p:pic>
      <p:pic>
        <p:nvPicPr>
          <p:cNvPr id="11" name="그래픽 10" descr="서적 단색으로 채워진">
            <a:extLst>
              <a:ext uri="{FF2B5EF4-FFF2-40B4-BE49-F238E27FC236}">
                <a16:creationId xmlns:a16="http://schemas.microsoft.com/office/drawing/2014/main" id="{182FD50F-9BCC-A4E0-BAFC-DD9CCD7292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2213" y="566781"/>
            <a:ext cx="1375719" cy="1375719"/>
          </a:xfrm>
          <a:prstGeom prst="rect">
            <a:avLst/>
          </a:prstGeom>
        </p:spPr>
      </p:pic>
      <p:pic>
        <p:nvPicPr>
          <p:cNvPr id="13" name="그래픽 12" descr="서적 단색으로 채워진">
            <a:extLst>
              <a:ext uri="{FF2B5EF4-FFF2-40B4-BE49-F238E27FC236}">
                <a16:creationId xmlns:a16="http://schemas.microsoft.com/office/drawing/2014/main" id="{06C7ED94-A663-4E6E-5EFB-06B80FCFDA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2214" y="586943"/>
            <a:ext cx="1375719" cy="13757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D0E4E2-CA69-4255-C5B1-CDF4D8CF1CC2}"/>
              </a:ext>
            </a:extLst>
          </p:cNvPr>
          <p:cNvSpPr txBox="1"/>
          <p:nvPr/>
        </p:nvSpPr>
        <p:spPr>
          <a:xfrm>
            <a:off x="939114" y="605480"/>
            <a:ext cx="18053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240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7 L -0.00052 0.2902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3.7037E-7 L 0.00183 0.2006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07407E-6 L 0.00013 0.0696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CE9C-21B4-07E5-EC2B-47E42CF42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B9C52199-AE97-F540-5F10-2AC68FFF3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30298" y="5130800"/>
            <a:ext cx="3131404" cy="972404"/>
          </a:xfrm>
          <a:prstGeom prst="rect">
            <a:avLst/>
          </a:prstGeom>
        </p:spPr>
      </p:pic>
      <p:pic>
        <p:nvPicPr>
          <p:cNvPr id="7" name="그래픽 6" descr="서적 단색으로 채워진">
            <a:extLst>
              <a:ext uri="{FF2B5EF4-FFF2-40B4-BE49-F238E27FC236}">
                <a16:creationId xmlns:a16="http://schemas.microsoft.com/office/drawing/2014/main" id="{29EBF544-AC3F-74E8-85EC-C82095455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140" y="4315940"/>
            <a:ext cx="1375719" cy="1375719"/>
          </a:xfrm>
          <a:prstGeom prst="rect">
            <a:avLst/>
          </a:prstGeom>
        </p:spPr>
      </p:pic>
      <p:pic>
        <p:nvPicPr>
          <p:cNvPr id="11" name="그래픽 10" descr="서적 단색으로 채워진">
            <a:extLst>
              <a:ext uri="{FF2B5EF4-FFF2-40B4-BE49-F238E27FC236}">
                <a16:creationId xmlns:a16="http://schemas.microsoft.com/office/drawing/2014/main" id="{F98F236F-B7C5-F651-FE26-D9ACE8694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139" y="3467442"/>
            <a:ext cx="1375719" cy="1375719"/>
          </a:xfrm>
          <a:prstGeom prst="rect">
            <a:avLst/>
          </a:prstGeom>
        </p:spPr>
      </p:pic>
      <p:pic>
        <p:nvPicPr>
          <p:cNvPr id="13" name="그래픽 12" descr="서적 단색으로 채워진">
            <a:extLst>
              <a:ext uri="{FF2B5EF4-FFF2-40B4-BE49-F238E27FC236}">
                <a16:creationId xmlns:a16="http://schemas.microsoft.com/office/drawing/2014/main" id="{E21DF48B-9D51-84E3-687E-033A67A499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8139" y="2618943"/>
            <a:ext cx="1375719" cy="13757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BC72E0-E9DB-1B10-426E-8AAD9E3392CB}"/>
              </a:ext>
            </a:extLst>
          </p:cNvPr>
          <p:cNvSpPr txBox="1"/>
          <p:nvPr/>
        </p:nvSpPr>
        <p:spPr>
          <a:xfrm>
            <a:off x="939114" y="605480"/>
            <a:ext cx="18053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8069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FDF6-3C5A-C75F-5E7A-57C1F1DD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62FCC606-13A8-02C2-4CEA-425AE76F3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9082190" y="2558716"/>
            <a:ext cx="2499148" cy="24991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062DAC-2B15-2644-4071-5300EFF10C79}"/>
              </a:ext>
            </a:extLst>
          </p:cNvPr>
          <p:cNvSpPr txBox="1"/>
          <p:nvPr/>
        </p:nvSpPr>
        <p:spPr>
          <a:xfrm>
            <a:off x="8162008" y="733109"/>
            <a:ext cx="15055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4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F7532-9512-C7DC-C1EC-F80EFB3BFF4A}"/>
              </a:ext>
            </a:extLst>
          </p:cNvPr>
          <p:cNvSpPr txBox="1"/>
          <p:nvPr/>
        </p:nvSpPr>
        <p:spPr>
          <a:xfrm>
            <a:off x="2162622" y="517666"/>
            <a:ext cx="18673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</a:t>
            </a:r>
          </a:p>
          <a:p>
            <a:pPr algn="ctr"/>
            <a:r>
              <a:rPr lang="en-US" altLang="ko-KR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Server</a:t>
            </a:r>
            <a:endParaRPr lang="ko-KR" altLang="en-US" sz="36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6" name="그림 5" descr="선반에 있는 파일">
            <a:extLst>
              <a:ext uri="{FF2B5EF4-FFF2-40B4-BE49-F238E27FC236}">
                <a16:creationId xmlns:a16="http://schemas.microsoft.com/office/drawing/2014/main" id="{576A58F8-E675-3F81-27A7-3C8FBE0871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43" y="2123301"/>
            <a:ext cx="3027734" cy="3357170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928D853-3ED7-6D50-3A8A-E4C530018D06}"/>
              </a:ext>
            </a:extLst>
          </p:cNvPr>
          <p:cNvCxnSpPr/>
          <p:nvPr/>
        </p:nvCxnSpPr>
        <p:spPr>
          <a:xfrm>
            <a:off x="6096000" y="1260389"/>
            <a:ext cx="0" cy="4584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래픽 15" descr="덮인 책 윤곽선">
            <a:extLst>
              <a:ext uri="{FF2B5EF4-FFF2-40B4-BE49-F238E27FC236}">
                <a16:creationId xmlns:a16="http://schemas.microsoft.com/office/drawing/2014/main" id="{0785E854-7F8F-653F-AC43-29F76288C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8725" y="3032730"/>
            <a:ext cx="1612452" cy="16124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9B35924-33A2-7DEC-C8BF-E3EC5096C25B}"/>
              </a:ext>
            </a:extLst>
          </p:cNvPr>
          <p:cNvSpPr txBox="1"/>
          <p:nvPr/>
        </p:nvSpPr>
        <p:spPr>
          <a:xfrm>
            <a:off x="5217522" y="5915725"/>
            <a:ext cx="17569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Network</a:t>
            </a:r>
            <a:endParaRPr lang="ko-KR" altLang="en-US" sz="3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F16A61A-9DA3-20C7-1F39-293006456B1F}"/>
              </a:ext>
            </a:extLst>
          </p:cNvPr>
          <p:cNvGrpSpPr/>
          <p:nvPr/>
        </p:nvGrpSpPr>
        <p:grpSpPr>
          <a:xfrm>
            <a:off x="6839603" y="2846536"/>
            <a:ext cx="1984840" cy="1984840"/>
            <a:chOff x="6839603" y="2846536"/>
            <a:chExt cx="1984840" cy="1984840"/>
          </a:xfrm>
        </p:grpSpPr>
        <p:pic>
          <p:nvPicPr>
            <p:cNvPr id="4" name="그래픽 3" descr="모니터 단색으로 채워진">
              <a:extLst>
                <a:ext uri="{FF2B5EF4-FFF2-40B4-BE49-F238E27FC236}">
                  <a16:creationId xmlns:a16="http://schemas.microsoft.com/office/drawing/2014/main" id="{1D8FFC35-6E35-D5E0-D2A2-8B3A55F3D9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161B95-D72A-F3C2-5F53-FDEB3584F1B0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486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400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19063 -0.0041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31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7D3AB-EAB1-5597-66D8-66EEA3B1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E93F9D3E-3448-4D5F-106C-BF8AE0DEE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725310" y="2407886"/>
            <a:ext cx="2499148" cy="2499148"/>
          </a:xfrm>
          <a:prstGeom prst="rect">
            <a:avLst/>
          </a:prstGeom>
        </p:spPr>
      </p:pic>
      <p:pic>
        <p:nvPicPr>
          <p:cNvPr id="6" name="그림 5" descr="선반에 있는 파일">
            <a:extLst>
              <a:ext uri="{FF2B5EF4-FFF2-40B4-BE49-F238E27FC236}">
                <a16:creationId xmlns:a16="http://schemas.microsoft.com/office/drawing/2014/main" id="{A50E8582-9C9F-5008-F1AD-98B5E4CB9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76" y="2407886"/>
            <a:ext cx="2436559" cy="2701671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D79BA93-0261-49FA-C86F-41A6BCABDF47}"/>
              </a:ext>
            </a:extLst>
          </p:cNvPr>
          <p:cNvCxnSpPr/>
          <p:nvPr/>
        </p:nvCxnSpPr>
        <p:spPr>
          <a:xfrm>
            <a:off x="6640747" y="1219433"/>
            <a:ext cx="0" cy="4584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래픽 15" descr="덮인 책 윤곽선">
            <a:extLst>
              <a:ext uri="{FF2B5EF4-FFF2-40B4-BE49-F238E27FC236}">
                <a16:creationId xmlns:a16="http://schemas.microsoft.com/office/drawing/2014/main" id="{5963ABE4-6E58-4241-F354-6DDAC01E77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9486" y="2952495"/>
            <a:ext cx="1612452" cy="16124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7B1253-8453-2C4C-3B4F-F020AF2E3133}"/>
              </a:ext>
            </a:extLst>
          </p:cNvPr>
          <p:cNvSpPr txBox="1"/>
          <p:nvPr/>
        </p:nvSpPr>
        <p:spPr>
          <a:xfrm>
            <a:off x="5762269" y="5938450"/>
            <a:ext cx="17569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Network</a:t>
            </a:r>
            <a:endParaRPr lang="ko-KR" altLang="en-US" sz="3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1A661E8-E86F-E7F0-DA3F-67DEB2790314}"/>
              </a:ext>
            </a:extLst>
          </p:cNvPr>
          <p:cNvGrpSpPr/>
          <p:nvPr/>
        </p:nvGrpSpPr>
        <p:grpSpPr>
          <a:xfrm>
            <a:off x="3670180" y="2815870"/>
            <a:ext cx="1984840" cy="1984840"/>
            <a:chOff x="6839603" y="2846536"/>
            <a:chExt cx="1984840" cy="1984840"/>
          </a:xfrm>
        </p:grpSpPr>
        <p:pic>
          <p:nvPicPr>
            <p:cNvPr id="4" name="그래픽 3" descr="모니터 단색으로 채워진">
              <a:extLst>
                <a:ext uri="{FF2B5EF4-FFF2-40B4-BE49-F238E27FC236}">
                  <a16:creationId xmlns:a16="http://schemas.microsoft.com/office/drawing/2014/main" id="{5FFA3901-AA67-A653-B5DC-F69A89C510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D3C6FE-7AB6-3E14-C5A2-5D4C8BF43F6D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1E45970-4C52-959D-ACEB-E0CE458FDEAC}"/>
              </a:ext>
            </a:extLst>
          </p:cNvPr>
          <p:cNvSpPr txBox="1"/>
          <p:nvPr/>
        </p:nvSpPr>
        <p:spPr>
          <a:xfrm>
            <a:off x="2162622" y="517666"/>
            <a:ext cx="18673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</a:t>
            </a:r>
          </a:p>
          <a:p>
            <a:pPr algn="ctr"/>
            <a:r>
              <a:rPr lang="en-US" altLang="ko-KR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Server</a:t>
            </a:r>
            <a:endParaRPr lang="ko-KR" altLang="en-US" sz="36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3E9BF-91D4-5EB1-A96D-7FE7F6CE0A59}"/>
              </a:ext>
            </a:extLst>
          </p:cNvPr>
          <p:cNvSpPr txBox="1"/>
          <p:nvPr/>
        </p:nvSpPr>
        <p:spPr>
          <a:xfrm>
            <a:off x="8162008" y="733109"/>
            <a:ext cx="15055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4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오른쪽 중괄호 12">
            <a:extLst>
              <a:ext uri="{FF2B5EF4-FFF2-40B4-BE49-F238E27FC236}">
                <a16:creationId xmlns:a16="http://schemas.microsoft.com/office/drawing/2014/main" id="{2508ED4C-65E3-22D3-E692-CD4BEA00B67E}"/>
              </a:ext>
            </a:extLst>
          </p:cNvPr>
          <p:cNvSpPr/>
          <p:nvPr/>
        </p:nvSpPr>
        <p:spPr>
          <a:xfrm rot="5400000">
            <a:off x="2879116" y="2814179"/>
            <a:ext cx="244759" cy="5307041"/>
          </a:xfrm>
          <a:prstGeom prst="rightBrace">
            <a:avLst>
              <a:gd name="adj1" fmla="val 108650"/>
              <a:gd name="adj2" fmla="val 5016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1C0282-B144-FBBA-B492-60461D7F5A91}"/>
              </a:ext>
            </a:extLst>
          </p:cNvPr>
          <p:cNvSpPr txBox="1"/>
          <p:nvPr/>
        </p:nvSpPr>
        <p:spPr>
          <a:xfrm>
            <a:off x="2493984" y="5612931"/>
            <a:ext cx="10150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/>
              <a:t>NDP</a:t>
            </a:r>
            <a:endParaRPr lang="ko-KR" alt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751098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5A471-DD43-98EE-5308-E012A6F98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CA737198-3CC7-8054-0630-04A124981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725310" y="2407886"/>
            <a:ext cx="2499148" cy="2499148"/>
          </a:xfrm>
          <a:prstGeom prst="rect">
            <a:avLst/>
          </a:prstGeom>
        </p:spPr>
      </p:pic>
      <p:pic>
        <p:nvPicPr>
          <p:cNvPr id="6" name="그림 5" descr="선반에 있는 파일">
            <a:extLst>
              <a:ext uri="{FF2B5EF4-FFF2-40B4-BE49-F238E27FC236}">
                <a16:creationId xmlns:a16="http://schemas.microsoft.com/office/drawing/2014/main" id="{C54CF0E2-1BC5-3334-B04A-BFCAA10A3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48" y="2407886"/>
            <a:ext cx="2436559" cy="2701671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A9DFCB2-5386-E683-2D13-6F4B2CED50F5}"/>
              </a:ext>
            </a:extLst>
          </p:cNvPr>
          <p:cNvCxnSpPr/>
          <p:nvPr/>
        </p:nvCxnSpPr>
        <p:spPr>
          <a:xfrm>
            <a:off x="6640747" y="1219433"/>
            <a:ext cx="0" cy="4584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C000DD8-4E68-8DBE-F800-552BB1ED5528}"/>
              </a:ext>
            </a:extLst>
          </p:cNvPr>
          <p:cNvSpPr txBox="1"/>
          <p:nvPr/>
        </p:nvSpPr>
        <p:spPr>
          <a:xfrm>
            <a:off x="5762269" y="5938450"/>
            <a:ext cx="17569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Network</a:t>
            </a:r>
            <a:endParaRPr lang="ko-KR" altLang="en-US" sz="3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CD3F116-F3B8-B72A-8200-546734410953}"/>
              </a:ext>
            </a:extLst>
          </p:cNvPr>
          <p:cNvGrpSpPr/>
          <p:nvPr/>
        </p:nvGrpSpPr>
        <p:grpSpPr>
          <a:xfrm>
            <a:off x="3670180" y="2815870"/>
            <a:ext cx="1984840" cy="1984840"/>
            <a:chOff x="6839603" y="2846536"/>
            <a:chExt cx="1984840" cy="1984840"/>
          </a:xfrm>
        </p:grpSpPr>
        <p:pic>
          <p:nvPicPr>
            <p:cNvPr id="4" name="그래픽 3" descr="모니터 단색으로 채워진">
              <a:extLst>
                <a:ext uri="{FF2B5EF4-FFF2-40B4-BE49-F238E27FC236}">
                  <a16:creationId xmlns:a16="http://schemas.microsoft.com/office/drawing/2014/main" id="{B73C99BF-BFF0-8973-3DAA-7B9F53A57B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20FD73-1BAA-13F2-5988-46F52B6DB948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9DAC029-A299-ED68-0E88-AC81D4F84E4C}"/>
              </a:ext>
            </a:extLst>
          </p:cNvPr>
          <p:cNvSpPr txBox="1"/>
          <p:nvPr/>
        </p:nvSpPr>
        <p:spPr>
          <a:xfrm>
            <a:off x="2162622" y="517666"/>
            <a:ext cx="18673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</a:t>
            </a:r>
          </a:p>
          <a:p>
            <a:pPr algn="ctr"/>
            <a:r>
              <a:rPr lang="en-US" altLang="ko-KR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Server</a:t>
            </a:r>
            <a:endParaRPr lang="ko-KR" altLang="en-US" sz="36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16B3FF-EAB6-F3C6-0302-C23E0908407E}"/>
              </a:ext>
            </a:extLst>
          </p:cNvPr>
          <p:cNvSpPr txBox="1"/>
          <p:nvPr/>
        </p:nvSpPr>
        <p:spPr>
          <a:xfrm>
            <a:off x="8162008" y="733109"/>
            <a:ext cx="15055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4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DB2B565-E7F3-5AE6-91BA-82181ECC9004}"/>
              </a:ext>
            </a:extLst>
          </p:cNvPr>
          <p:cNvGrpSpPr/>
          <p:nvPr/>
        </p:nvGrpSpPr>
        <p:grpSpPr>
          <a:xfrm>
            <a:off x="820438" y="2703222"/>
            <a:ext cx="2215457" cy="2557689"/>
            <a:chOff x="820438" y="2703222"/>
            <a:chExt cx="2215457" cy="2557689"/>
          </a:xfrm>
        </p:grpSpPr>
        <p:pic>
          <p:nvPicPr>
            <p:cNvPr id="21" name="그래픽 20" descr="데이터베이스 단색으로 채워진">
              <a:extLst>
                <a:ext uri="{FF2B5EF4-FFF2-40B4-BE49-F238E27FC236}">
                  <a16:creationId xmlns:a16="http://schemas.microsoft.com/office/drawing/2014/main" id="{2EC9415B-4B6D-8CEE-5DE4-EED0172273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A347749-462B-1DC0-4144-CF939E8E8994}"/>
                </a:ext>
              </a:extLst>
            </p:cNvPr>
            <p:cNvSpPr txBox="1"/>
            <p:nvPr/>
          </p:nvSpPr>
          <p:spPr>
            <a:xfrm>
              <a:off x="927626" y="4706913"/>
              <a:ext cx="210826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 err="1"/>
                <a:t>NVMe</a:t>
              </a:r>
              <a:r>
                <a:rPr lang="en-US" altLang="ko-KR" sz="3000" dirty="0"/>
                <a:t> SSD</a:t>
              </a:r>
              <a:endParaRPr lang="ko-KR" altLang="en-US" sz="3000" dirty="0"/>
            </a:p>
          </p:txBody>
        </p:sp>
      </p:grp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9B56BE2-D0D7-1607-A262-6274FA770F9E}"/>
              </a:ext>
            </a:extLst>
          </p:cNvPr>
          <p:cNvSpPr/>
          <p:nvPr/>
        </p:nvSpPr>
        <p:spPr>
          <a:xfrm flipH="1">
            <a:off x="5499741" y="5316834"/>
            <a:ext cx="2336796" cy="32173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12252-12F3-62A4-C41A-A46EECFD3765}"/>
              </a:ext>
            </a:extLst>
          </p:cNvPr>
          <p:cNvSpPr txBox="1"/>
          <p:nvPr/>
        </p:nvSpPr>
        <p:spPr>
          <a:xfrm>
            <a:off x="5819848" y="4913084"/>
            <a:ext cx="16417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 err="1"/>
              <a:t>NVMe-oF</a:t>
            </a:r>
            <a:endParaRPr lang="ko-KR" altLang="en-US" sz="2500" b="1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55961C4-106E-51CA-3624-FB346EB50C5E}"/>
              </a:ext>
            </a:extLst>
          </p:cNvPr>
          <p:cNvGrpSpPr/>
          <p:nvPr/>
        </p:nvGrpSpPr>
        <p:grpSpPr>
          <a:xfrm>
            <a:off x="2661380" y="3137497"/>
            <a:ext cx="1116011" cy="861827"/>
            <a:chOff x="2661380" y="3137497"/>
            <a:chExt cx="1116011" cy="861827"/>
          </a:xfrm>
        </p:grpSpPr>
        <p:sp>
          <p:nvSpPr>
            <p:cNvPr id="17" name="화살표: 왼쪽/오른쪽 16">
              <a:extLst>
                <a:ext uri="{FF2B5EF4-FFF2-40B4-BE49-F238E27FC236}">
                  <a16:creationId xmlns:a16="http://schemas.microsoft.com/office/drawing/2014/main" id="{5B5131B1-A0D4-3F46-A268-765E81F3D2B2}"/>
                </a:ext>
              </a:extLst>
            </p:cNvPr>
            <p:cNvSpPr/>
            <p:nvPr/>
          </p:nvSpPr>
          <p:spPr>
            <a:xfrm>
              <a:off x="2703257" y="3562164"/>
              <a:ext cx="1002382" cy="437160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912600-A1EC-701E-3D32-2F9BC7424089}"/>
                </a:ext>
              </a:extLst>
            </p:cNvPr>
            <p:cNvSpPr txBox="1"/>
            <p:nvPr/>
          </p:nvSpPr>
          <p:spPr>
            <a:xfrm>
              <a:off x="2661380" y="3137497"/>
              <a:ext cx="111601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/>
                <a:t>SPDK</a:t>
              </a:r>
              <a:endParaRPr lang="ko-KR" altLang="en-US" sz="3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1131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AA474-F751-A74F-A298-E4071E2A9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58545195-3600-0C5A-FCFC-6B0F19B97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725310" y="2407886"/>
            <a:ext cx="2499148" cy="24991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96D2EA-D3E2-C1C3-8369-B13B5E101B73}"/>
              </a:ext>
            </a:extLst>
          </p:cNvPr>
          <p:cNvSpPr txBox="1"/>
          <p:nvPr/>
        </p:nvSpPr>
        <p:spPr>
          <a:xfrm>
            <a:off x="8222114" y="1298061"/>
            <a:ext cx="15055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4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그래픽 17" descr="사용자 단색으로 채워진">
            <a:extLst>
              <a:ext uri="{FF2B5EF4-FFF2-40B4-BE49-F238E27FC236}">
                <a16:creationId xmlns:a16="http://schemas.microsoft.com/office/drawing/2014/main" id="{3E36801F-3350-5C5D-DA83-65E3B3DBC8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6134" y="2764968"/>
            <a:ext cx="2142066" cy="2142066"/>
          </a:xfrm>
          <a:prstGeom prst="rect">
            <a:avLst/>
          </a:prstGeom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49DCF2C7-C771-7CF7-27B0-9D1EEFDFF36C}"/>
              </a:ext>
            </a:extLst>
          </p:cNvPr>
          <p:cNvSpPr/>
          <p:nvPr/>
        </p:nvSpPr>
        <p:spPr>
          <a:xfrm>
            <a:off x="3750733" y="3581260"/>
            <a:ext cx="3522133" cy="457340"/>
          </a:xfrm>
          <a:prstGeom prst="rightArrow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E319E-5335-B6C0-6852-90D0643ACD78}"/>
              </a:ext>
            </a:extLst>
          </p:cNvPr>
          <p:cNvSpPr txBox="1"/>
          <p:nvPr/>
        </p:nvSpPr>
        <p:spPr>
          <a:xfrm>
            <a:off x="4738956" y="3134240"/>
            <a:ext cx="1120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query</a:t>
            </a:r>
            <a:endParaRPr lang="ko-KR" altLang="en-US" sz="28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8D0FA4C-70B7-EA97-444B-387B7220DC7A}"/>
              </a:ext>
            </a:extLst>
          </p:cNvPr>
          <p:cNvGrpSpPr/>
          <p:nvPr/>
        </p:nvGrpSpPr>
        <p:grpSpPr>
          <a:xfrm>
            <a:off x="7887933" y="4907034"/>
            <a:ext cx="2013581" cy="1026845"/>
            <a:chOff x="7887933" y="4907034"/>
            <a:chExt cx="2013581" cy="1026845"/>
          </a:xfrm>
        </p:grpSpPr>
        <p:pic>
          <p:nvPicPr>
            <p:cNvPr id="25" name="그래픽 24" descr="망치 윤곽선">
              <a:extLst>
                <a:ext uri="{FF2B5EF4-FFF2-40B4-BE49-F238E27FC236}">
                  <a16:creationId xmlns:a16="http://schemas.microsoft.com/office/drawing/2014/main" id="{B7D375E9-BDDA-BB1B-4B88-8D67B52074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87933" y="4907034"/>
              <a:ext cx="1026845" cy="102684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2B5ADF0-ECC8-2E45-048C-254A253F0C9C}"/>
                </a:ext>
              </a:extLst>
            </p:cNvPr>
            <p:cNvSpPr txBox="1"/>
            <p:nvPr/>
          </p:nvSpPr>
          <p:spPr>
            <a:xfrm>
              <a:off x="8781143" y="5247418"/>
              <a:ext cx="11203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query</a:t>
              </a:r>
              <a:endParaRPr lang="ko-KR" altLang="en-US" sz="28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E4A9822-0FFF-2A00-A4F7-6C459A02E5FB}"/>
              </a:ext>
            </a:extLst>
          </p:cNvPr>
          <p:cNvSpPr txBox="1"/>
          <p:nvPr/>
        </p:nvSpPr>
        <p:spPr>
          <a:xfrm>
            <a:off x="7395110" y="5329039"/>
            <a:ext cx="3387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LLM </a:t>
            </a:r>
            <a:r>
              <a:rPr lang="ko-KR" altLang="en-US" sz="2800" dirty="0"/>
              <a:t>입력용 </a:t>
            </a:r>
            <a:r>
              <a:rPr lang="en-US" altLang="ko-KR" sz="2800" dirty="0"/>
              <a:t>Prompt</a:t>
            </a:r>
            <a:endParaRPr lang="ko-KR" alt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CF7062-81CB-AFEE-563C-DC97E5D5C5F6}"/>
              </a:ext>
            </a:extLst>
          </p:cNvPr>
          <p:cNvSpPr txBox="1"/>
          <p:nvPr/>
        </p:nvSpPr>
        <p:spPr>
          <a:xfrm>
            <a:off x="541866" y="548443"/>
            <a:ext cx="4468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사용자가 </a:t>
            </a:r>
            <a:r>
              <a:rPr lang="en-US" altLang="ko-KR" dirty="0"/>
              <a:t>Edge Device</a:t>
            </a:r>
            <a:r>
              <a:rPr lang="ko-KR" altLang="en-US" dirty="0"/>
              <a:t>에 </a:t>
            </a:r>
            <a:r>
              <a:rPr lang="en-US" altLang="ko-KR" dirty="0"/>
              <a:t>Query</a:t>
            </a:r>
            <a:r>
              <a:rPr lang="ko-KR" altLang="en-US" dirty="0"/>
              <a:t>를 입력</a:t>
            </a:r>
          </a:p>
        </p:txBody>
      </p:sp>
    </p:spTree>
    <p:extLst>
      <p:ext uri="{BB962C8B-B14F-4D97-AF65-F5344CB8AC3E}">
        <p14:creationId xmlns:p14="http://schemas.microsoft.com/office/powerpoint/2010/main" val="38017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543F8-B890-B5D0-2863-E29B1227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A920A497-C46D-8EA5-EDA0-5D3BC1F554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041726" y="2457313"/>
            <a:ext cx="2499148" cy="24991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44F5BE-41C3-85DA-C884-6731721780AE}"/>
              </a:ext>
            </a:extLst>
          </p:cNvPr>
          <p:cNvSpPr txBox="1"/>
          <p:nvPr/>
        </p:nvSpPr>
        <p:spPr>
          <a:xfrm>
            <a:off x="7652360" y="1476869"/>
            <a:ext cx="15055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4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501AAC-B3D5-041C-3287-E379B9704010}"/>
              </a:ext>
            </a:extLst>
          </p:cNvPr>
          <p:cNvSpPr txBox="1"/>
          <p:nvPr/>
        </p:nvSpPr>
        <p:spPr>
          <a:xfrm>
            <a:off x="6711526" y="5378466"/>
            <a:ext cx="3387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LLM </a:t>
            </a:r>
            <a:r>
              <a:rPr lang="ko-KR" altLang="en-US" sz="2800" dirty="0"/>
              <a:t>입력용 </a:t>
            </a:r>
            <a:r>
              <a:rPr lang="en-US" altLang="ko-KR" sz="2800" dirty="0"/>
              <a:t>Prompt</a:t>
            </a:r>
            <a:endParaRPr lang="ko-KR" altLang="en-US" sz="28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18982E4-B358-0530-F596-EEED401AB3A8}"/>
              </a:ext>
            </a:extLst>
          </p:cNvPr>
          <p:cNvGrpSpPr/>
          <p:nvPr/>
        </p:nvGrpSpPr>
        <p:grpSpPr>
          <a:xfrm>
            <a:off x="2170817" y="2718507"/>
            <a:ext cx="3925183" cy="2005251"/>
            <a:chOff x="1840705" y="2758526"/>
            <a:chExt cx="3925183" cy="2005251"/>
          </a:xfrm>
        </p:grpSpPr>
        <p:pic>
          <p:nvPicPr>
            <p:cNvPr id="3" name="그래픽 2" descr="용지 윤곽선">
              <a:extLst>
                <a:ext uri="{FF2B5EF4-FFF2-40B4-BE49-F238E27FC236}">
                  <a16:creationId xmlns:a16="http://schemas.microsoft.com/office/drawing/2014/main" id="{4A53EFC9-405C-90BF-A7CD-26F49785F5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40705" y="2758526"/>
              <a:ext cx="1750763" cy="1750763"/>
            </a:xfrm>
            <a:prstGeom prst="rect">
              <a:avLst/>
            </a:prstGeom>
          </p:spPr>
        </p:pic>
        <p:pic>
          <p:nvPicPr>
            <p:cNvPr id="7" name="그래픽 6" descr="용지 윤곽선">
              <a:extLst>
                <a:ext uri="{FF2B5EF4-FFF2-40B4-BE49-F238E27FC236}">
                  <a16:creationId xmlns:a16="http://schemas.microsoft.com/office/drawing/2014/main" id="{1BA00D5F-DCBB-3718-1FC9-1B9D2D20BE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15125" y="2758526"/>
              <a:ext cx="1750763" cy="175076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6F93688-38B7-206F-E019-737D30EC8488}"/>
                </a:ext>
              </a:extLst>
            </p:cNvPr>
            <p:cNvSpPr txBox="1"/>
            <p:nvPr/>
          </p:nvSpPr>
          <p:spPr>
            <a:xfrm>
              <a:off x="2089492" y="4394445"/>
              <a:ext cx="12650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output.bin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2D2E6A-5743-E9CB-6810-D4D619154A73}"/>
                </a:ext>
              </a:extLst>
            </p:cNvPr>
            <p:cNvSpPr txBox="1"/>
            <p:nvPr/>
          </p:nvSpPr>
          <p:spPr>
            <a:xfrm>
              <a:off x="4249050" y="4394445"/>
              <a:ext cx="1282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prompt.txt</a:t>
              </a:r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EFF9628-A235-8675-F2D4-E0B575FF4A45}"/>
              </a:ext>
            </a:extLst>
          </p:cNvPr>
          <p:cNvGrpSpPr/>
          <p:nvPr/>
        </p:nvGrpSpPr>
        <p:grpSpPr>
          <a:xfrm>
            <a:off x="3147753" y="3444913"/>
            <a:ext cx="2215457" cy="2557689"/>
            <a:chOff x="820438" y="2703222"/>
            <a:chExt cx="2215457" cy="2557689"/>
          </a:xfrm>
        </p:grpSpPr>
        <p:pic>
          <p:nvPicPr>
            <p:cNvPr id="11" name="그래픽 10" descr="데이터베이스 단색으로 채워진">
              <a:extLst>
                <a:ext uri="{FF2B5EF4-FFF2-40B4-BE49-F238E27FC236}">
                  <a16:creationId xmlns:a16="http://schemas.microsoft.com/office/drawing/2014/main" id="{636C89FB-F1DC-7E34-BD59-6293BD91E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BA5556-A8F1-B7F8-5B27-6DF933633ABD}"/>
                </a:ext>
              </a:extLst>
            </p:cNvPr>
            <p:cNvSpPr txBox="1"/>
            <p:nvPr/>
          </p:nvSpPr>
          <p:spPr>
            <a:xfrm>
              <a:off x="927626" y="4706913"/>
              <a:ext cx="210826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 err="1"/>
                <a:t>NVMe</a:t>
              </a:r>
              <a:r>
                <a:rPr lang="en-US" altLang="ko-KR" sz="3000" dirty="0"/>
                <a:t> SSD</a:t>
              </a:r>
              <a:endParaRPr lang="ko-KR" altLang="en-US" sz="30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CF4771F-764C-C824-8D4C-BF180913E51D}"/>
              </a:ext>
            </a:extLst>
          </p:cNvPr>
          <p:cNvSpPr txBox="1"/>
          <p:nvPr/>
        </p:nvSpPr>
        <p:spPr>
          <a:xfrm>
            <a:off x="541866" y="548443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Edge</a:t>
            </a:r>
            <a:r>
              <a:rPr lang="ko-KR" altLang="en-US" dirty="0"/>
              <a:t>에서 입력파일과 결과파일 준비</a:t>
            </a:r>
          </a:p>
        </p:txBody>
      </p:sp>
    </p:spTree>
    <p:extLst>
      <p:ext uri="{BB962C8B-B14F-4D97-AF65-F5344CB8AC3E}">
        <p14:creationId xmlns:p14="http://schemas.microsoft.com/office/powerpoint/2010/main" val="384902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7037E-6 L -0.26692 -0.259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46" y="-1296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59259E-6 L -0.00026 -0.1842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9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C3162-6C9C-E992-EF01-B60F94E9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FD2E13E9-B086-CA92-47E2-C6DC04B25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725310" y="2407886"/>
            <a:ext cx="2499148" cy="2499148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7020E76-715E-8F4A-7E78-06BA277DC9E0}"/>
              </a:ext>
            </a:extLst>
          </p:cNvPr>
          <p:cNvCxnSpPr/>
          <p:nvPr/>
        </p:nvCxnSpPr>
        <p:spPr>
          <a:xfrm>
            <a:off x="6640747" y="1219433"/>
            <a:ext cx="0" cy="4584357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9F48445-AE1A-8AE5-4208-B0C3425A54FF}"/>
              </a:ext>
            </a:extLst>
          </p:cNvPr>
          <p:cNvGrpSpPr/>
          <p:nvPr/>
        </p:nvGrpSpPr>
        <p:grpSpPr>
          <a:xfrm>
            <a:off x="3670180" y="2815870"/>
            <a:ext cx="1984840" cy="1984840"/>
            <a:chOff x="6839603" y="2846536"/>
            <a:chExt cx="1984840" cy="1984840"/>
          </a:xfrm>
        </p:grpSpPr>
        <p:pic>
          <p:nvPicPr>
            <p:cNvPr id="4" name="그래픽 3" descr="모니터 단색으로 채워진">
              <a:extLst>
                <a:ext uri="{FF2B5EF4-FFF2-40B4-BE49-F238E27FC236}">
                  <a16:creationId xmlns:a16="http://schemas.microsoft.com/office/drawing/2014/main" id="{57F3D605-7F1B-4466-3D85-F634915B2C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00D938-5102-F73B-22E5-0AFCD11F91D7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DE38BD0-1FC8-DC22-EF40-D1846C0748B2}"/>
              </a:ext>
            </a:extLst>
          </p:cNvPr>
          <p:cNvSpPr txBox="1"/>
          <p:nvPr/>
        </p:nvSpPr>
        <p:spPr>
          <a:xfrm>
            <a:off x="2544744" y="1038109"/>
            <a:ext cx="14955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</a:t>
            </a:r>
          </a:p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Server</a:t>
            </a:r>
            <a:endParaRPr lang="ko-KR" altLang="en-US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57BA69-8370-16EA-AB42-DE2A38E2AE53}"/>
              </a:ext>
            </a:extLst>
          </p:cNvPr>
          <p:cNvSpPr txBox="1"/>
          <p:nvPr/>
        </p:nvSpPr>
        <p:spPr>
          <a:xfrm>
            <a:off x="8358214" y="1253552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36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19D6EB5-7735-3722-1F18-E66C3A816C1B}"/>
              </a:ext>
            </a:extLst>
          </p:cNvPr>
          <p:cNvGrpSpPr/>
          <p:nvPr/>
        </p:nvGrpSpPr>
        <p:grpSpPr>
          <a:xfrm>
            <a:off x="820438" y="2703222"/>
            <a:ext cx="2215457" cy="2557689"/>
            <a:chOff x="820438" y="2703222"/>
            <a:chExt cx="2215457" cy="2557689"/>
          </a:xfrm>
        </p:grpSpPr>
        <p:pic>
          <p:nvPicPr>
            <p:cNvPr id="21" name="그래픽 20" descr="데이터베이스 단색으로 채워진">
              <a:extLst>
                <a:ext uri="{FF2B5EF4-FFF2-40B4-BE49-F238E27FC236}">
                  <a16:creationId xmlns:a16="http://schemas.microsoft.com/office/drawing/2014/main" id="{8A43E176-F044-293E-5D1B-5D3D224ABC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66EE952-557E-CFCE-D6A2-29295DEE2F59}"/>
                </a:ext>
              </a:extLst>
            </p:cNvPr>
            <p:cNvSpPr txBox="1"/>
            <p:nvPr/>
          </p:nvSpPr>
          <p:spPr>
            <a:xfrm>
              <a:off x="927626" y="4706913"/>
              <a:ext cx="210826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 err="1"/>
                <a:t>NVMe</a:t>
              </a:r>
              <a:r>
                <a:rPr lang="en-US" altLang="ko-KR" sz="3000" dirty="0"/>
                <a:t> SSD</a:t>
              </a:r>
              <a:endParaRPr lang="ko-KR" altLang="en-US" sz="3000" dirty="0"/>
            </a:p>
          </p:txBody>
        </p:sp>
      </p:grp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C4B545A-A27E-FA1A-9296-52B7DFCE6CE2}"/>
              </a:ext>
            </a:extLst>
          </p:cNvPr>
          <p:cNvSpPr/>
          <p:nvPr/>
        </p:nvSpPr>
        <p:spPr>
          <a:xfrm flipH="1">
            <a:off x="5499741" y="5316834"/>
            <a:ext cx="2336796" cy="32173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8ABACC-FEAC-5DA7-6FA0-E034D5AF4305}"/>
              </a:ext>
            </a:extLst>
          </p:cNvPr>
          <p:cNvSpPr txBox="1"/>
          <p:nvPr/>
        </p:nvSpPr>
        <p:spPr>
          <a:xfrm>
            <a:off x="5819848" y="4913084"/>
            <a:ext cx="16417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 err="1"/>
              <a:t>NVMe-oF</a:t>
            </a:r>
            <a:endParaRPr lang="ko-KR" altLang="en-US" sz="25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00FCD2-9579-19B9-F4E0-F277525444BD}"/>
              </a:ext>
            </a:extLst>
          </p:cNvPr>
          <p:cNvSpPr txBox="1"/>
          <p:nvPr/>
        </p:nvSpPr>
        <p:spPr>
          <a:xfrm>
            <a:off x="7872532" y="1891997"/>
            <a:ext cx="235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output.bin</a:t>
            </a:r>
            <a:r>
              <a:rPr lang="en-US" altLang="ko-KR" dirty="0"/>
              <a:t> </a:t>
            </a:r>
            <a:r>
              <a:rPr lang="ko-KR" altLang="en-US" dirty="0"/>
              <a:t>파일 위치</a:t>
            </a:r>
            <a:endParaRPr lang="en-US" altLang="ko-KR" dirty="0"/>
          </a:p>
          <a:p>
            <a:r>
              <a:rPr lang="en-US" altLang="ko-KR" dirty="0"/>
              <a:t>Prompt.txt </a:t>
            </a:r>
            <a:r>
              <a:rPr lang="ko-KR" altLang="en-US" dirty="0"/>
              <a:t>파일 위치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382598-045B-1B3D-AA5B-D6CE29D066C9}"/>
              </a:ext>
            </a:extLst>
          </p:cNvPr>
          <p:cNvSpPr txBox="1"/>
          <p:nvPr/>
        </p:nvSpPr>
        <p:spPr>
          <a:xfrm>
            <a:off x="541866" y="548443"/>
            <a:ext cx="595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Edge</a:t>
            </a:r>
            <a:r>
              <a:rPr lang="ko-KR" altLang="en-US" dirty="0"/>
              <a:t>가 </a:t>
            </a:r>
            <a:r>
              <a:rPr lang="en-US" altLang="ko-KR" dirty="0"/>
              <a:t>Custom </a:t>
            </a:r>
            <a:r>
              <a:rPr lang="en-US" altLang="ko-KR" dirty="0" err="1"/>
              <a:t>NVMe</a:t>
            </a:r>
            <a:r>
              <a:rPr lang="en-US" altLang="ko-KR" dirty="0"/>
              <a:t> Command</a:t>
            </a:r>
            <a:r>
              <a:rPr lang="ko-KR" altLang="en-US" dirty="0"/>
              <a:t>를 </a:t>
            </a:r>
            <a:r>
              <a:rPr lang="en-US" altLang="ko-KR" dirty="0"/>
              <a:t>Server</a:t>
            </a:r>
            <a:r>
              <a:rPr lang="ko-KR" altLang="en-US" dirty="0"/>
              <a:t>에게 보냄</a:t>
            </a:r>
          </a:p>
        </p:txBody>
      </p:sp>
    </p:spTree>
    <p:extLst>
      <p:ext uri="{BB962C8B-B14F-4D97-AF65-F5344CB8AC3E}">
        <p14:creationId xmlns:p14="http://schemas.microsoft.com/office/powerpoint/2010/main" val="312049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-0.33334 0.004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67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4242D-8A1B-00EF-6206-63563D7A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F828FB9-F43D-9A44-6DF3-FCF900019679}"/>
              </a:ext>
            </a:extLst>
          </p:cNvPr>
          <p:cNvGrpSpPr/>
          <p:nvPr/>
        </p:nvGrpSpPr>
        <p:grpSpPr>
          <a:xfrm>
            <a:off x="7260612" y="2929169"/>
            <a:ext cx="1984840" cy="1984840"/>
            <a:chOff x="6839603" y="2846536"/>
            <a:chExt cx="1984840" cy="1984840"/>
          </a:xfrm>
        </p:grpSpPr>
        <p:pic>
          <p:nvPicPr>
            <p:cNvPr id="4" name="그래픽 3" descr="모니터 단색으로 채워진">
              <a:extLst>
                <a:ext uri="{FF2B5EF4-FFF2-40B4-BE49-F238E27FC236}">
                  <a16:creationId xmlns:a16="http://schemas.microsoft.com/office/drawing/2014/main" id="{0BA53EFA-FDA6-469A-EAC5-5884128400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3CF686-4703-AB96-B992-E889BCE1105F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FC25E7D-9C5E-9C1C-917E-574260FDE85F}"/>
              </a:ext>
            </a:extLst>
          </p:cNvPr>
          <p:cNvSpPr txBox="1"/>
          <p:nvPr/>
        </p:nvSpPr>
        <p:spPr>
          <a:xfrm>
            <a:off x="4161713" y="1319705"/>
            <a:ext cx="3868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 Server</a:t>
            </a:r>
            <a:endParaRPr lang="ko-KR" altLang="en-US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E5DF95D-8C06-5A76-DC4C-16C933FAB376}"/>
              </a:ext>
            </a:extLst>
          </p:cNvPr>
          <p:cNvGrpSpPr/>
          <p:nvPr/>
        </p:nvGrpSpPr>
        <p:grpSpPr>
          <a:xfrm>
            <a:off x="2890879" y="3025611"/>
            <a:ext cx="1598148" cy="1888398"/>
            <a:chOff x="820438" y="2703222"/>
            <a:chExt cx="2155045" cy="2542362"/>
          </a:xfrm>
        </p:grpSpPr>
        <p:pic>
          <p:nvPicPr>
            <p:cNvPr id="21" name="그래픽 20" descr="데이터베이스 단색으로 채워진">
              <a:extLst>
                <a:ext uri="{FF2B5EF4-FFF2-40B4-BE49-F238E27FC236}">
                  <a16:creationId xmlns:a16="http://schemas.microsoft.com/office/drawing/2014/main" id="{E632F72E-8A00-5AD2-2EF7-02DCAEB73A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07F464B-8A37-71F2-17C1-922B005F1290}"/>
                </a:ext>
              </a:extLst>
            </p:cNvPr>
            <p:cNvSpPr txBox="1"/>
            <p:nvPr/>
          </p:nvSpPr>
          <p:spPr>
            <a:xfrm>
              <a:off x="927626" y="4706913"/>
              <a:ext cx="1980451" cy="53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 err="1"/>
                <a:t>NVMe</a:t>
              </a:r>
              <a:r>
                <a:rPr lang="en-US" altLang="ko-KR" sz="2000" dirty="0"/>
                <a:t> SSD</a:t>
              </a:r>
              <a:endParaRPr lang="ko-KR" altLang="en-US" sz="20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939466C-02BD-CC40-054A-620EFF51DD80}"/>
              </a:ext>
            </a:extLst>
          </p:cNvPr>
          <p:cNvSpPr txBox="1"/>
          <p:nvPr/>
        </p:nvSpPr>
        <p:spPr>
          <a:xfrm>
            <a:off x="541866" y="548443"/>
            <a:ext cx="732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ko-KR" dirty="0" err="1"/>
              <a:t>Storage</a:t>
            </a:r>
            <a:r>
              <a:rPr lang="ko-KR" altLang="ko-KR" dirty="0"/>
              <a:t> </a:t>
            </a:r>
            <a:r>
              <a:rPr lang="ko-KR" altLang="ko-KR" dirty="0" err="1"/>
              <a:t>Server가</a:t>
            </a:r>
            <a:r>
              <a:rPr lang="ko-KR" altLang="ko-KR" dirty="0"/>
              <a:t> </a:t>
            </a:r>
            <a:r>
              <a:rPr lang="ko-KR" altLang="ko-KR" dirty="0" err="1"/>
              <a:t>SSD에서</a:t>
            </a:r>
            <a:r>
              <a:rPr lang="ko-KR" altLang="ko-KR" dirty="0"/>
              <a:t> </a:t>
            </a:r>
            <a:r>
              <a:rPr lang="en-US" altLang="ko-KR" dirty="0"/>
              <a:t>p</a:t>
            </a:r>
            <a:r>
              <a:rPr lang="ko-KR" altLang="ko-KR" dirty="0" err="1"/>
              <a:t>rompt를</a:t>
            </a:r>
            <a:r>
              <a:rPr lang="ko-KR" altLang="ko-KR" dirty="0"/>
              <a:t> 직접 </a:t>
            </a:r>
            <a:r>
              <a:rPr lang="ko-KR" altLang="en-US" dirty="0"/>
              <a:t>읽고 </a:t>
            </a:r>
            <a:r>
              <a:rPr lang="en-US" altLang="ko-KR" dirty="0"/>
              <a:t>RAG pipeline </a:t>
            </a:r>
            <a:r>
              <a:rPr lang="ko-KR" altLang="en-US" dirty="0"/>
              <a:t>수행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9F1FD61-B732-85EB-9565-5682237C0A2B}"/>
              </a:ext>
            </a:extLst>
          </p:cNvPr>
          <p:cNvGrpSpPr/>
          <p:nvPr/>
        </p:nvGrpSpPr>
        <p:grpSpPr>
          <a:xfrm>
            <a:off x="3207288" y="3390106"/>
            <a:ext cx="1121149" cy="826639"/>
            <a:chOff x="1942324" y="2006907"/>
            <a:chExt cx="1121149" cy="826639"/>
          </a:xfrm>
        </p:grpSpPr>
        <p:pic>
          <p:nvPicPr>
            <p:cNvPr id="13" name="그래픽 12" descr="용지 윤곽선">
              <a:extLst>
                <a:ext uri="{FF2B5EF4-FFF2-40B4-BE49-F238E27FC236}">
                  <a16:creationId xmlns:a16="http://schemas.microsoft.com/office/drawing/2014/main" id="{66CC5284-205F-3467-1889-6027498F14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45190" y="2006907"/>
              <a:ext cx="636511" cy="63651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130AC97-8AC0-F506-91DE-1BF5B11C777E}"/>
                </a:ext>
              </a:extLst>
            </p:cNvPr>
            <p:cNvSpPr txBox="1"/>
            <p:nvPr/>
          </p:nvSpPr>
          <p:spPr>
            <a:xfrm>
              <a:off x="1942324" y="2525769"/>
              <a:ext cx="1121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prompt.txt</a:t>
              </a:r>
              <a:endParaRPr lang="ko-KR" altLang="en-US" sz="1400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C4D0D0A-4B1F-8129-D287-0659A3086114}"/>
              </a:ext>
            </a:extLst>
          </p:cNvPr>
          <p:cNvSpPr txBox="1"/>
          <p:nvPr/>
        </p:nvSpPr>
        <p:spPr>
          <a:xfrm>
            <a:off x="3208066" y="2019857"/>
            <a:ext cx="1120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query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1745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85185E-6 L 0.0004 -0.1840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9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06518-8B4C-1585-06FF-AB97829F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46AD339-C824-5338-C5FC-C95C4DDE6425}"/>
              </a:ext>
            </a:extLst>
          </p:cNvPr>
          <p:cNvGrpSpPr/>
          <p:nvPr/>
        </p:nvGrpSpPr>
        <p:grpSpPr>
          <a:xfrm>
            <a:off x="4611120" y="2961727"/>
            <a:ext cx="1984840" cy="1984840"/>
            <a:chOff x="6839603" y="2846536"/>
            <a:chExt cx="1984840" cy="1984840"/>
          </a:xfrm>
        </p:grpSpPr>
        <p:pic>
          <p:nvPicPr>
            <p:cNvPr id="4" name="그래픽 3" descr="모니터 단색으로 채워진">
              <a:extLst>
                <a:ext uri="{FF2B5EF4-FFF2-40B4-BE49-F238E27FC236}">
                  <a16:creationId xmlns:a16="http://schemas.microsoft.com/office/drawing/2014/main" id="{18B72F53-EC68-CFCA-545F-87CB4C07BD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17CD7E-2183-AD1E-A95F-1A0BC185198E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940EBFD-B805-C158-2D97-575647C85348}"/>
              </a:ext>
            </a:extLst>
          </p:cNvPr>
          <p:cNvSpPr txBox="1"/>
          <p:nvPr/>
        </p:nvSpPr>
        <p:spPr>
          <a:xfrm>
            <a:off x="4161713" y="1319705"/>
            <a:ext cx="3868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 Server</a:t>
            </a:r>
            <a:endParaRPr lang="ko-KR" altLang="en-US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216AC51-E07C-7461-93D8-5674F98CBC92}"/>
              </a:ext>
            </a:extLst>
          </p:cNvPr>
          <p:cNvGrpSpPr/>
          <p:nvPr/>
        </p:nvGrpSpPr>
        <p:grpSpPr>
          <a:xfrm>
            <a:off x="1905958" y="3153793"/>
            <a:ext cx="1598148" cy="1888398"/>
            <a:chOff x="820438" y="2703222"/>
            <a:chExt cx="2155045" cy="2542362"/>
          </a:xfrm>
        </p:grpSpPr>
        <p:pic>
          <p:nvPicPr>
            <p:cNvPr id="21" name="그래픽 20" descr="데이터베이스 단색으로 채워진">
              <a:extLst>
                <a:ext uri="{FF2B5EF4-FFF2-40B4-BE49-F238E27FC236}">
                  <a16:creationId xmlns:a16="http://schemas.microsoft.com/office/drawing/2014/main" id="{6E345E49-5BEA-7670-606E-A3972522BF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3B5638-B048-1454-7CBD-7E563BAD0C29}"/>
                </a:ext>
              </a:extLst>
            </p:cNvPr>
            <p:cNvSpPr txBox="1"/>
            <p:nvPr/>
          </p:nvSpPr>
          <p:spPr>
            <a:xfrm>
              <a:off x="927626" y="4706913"/>
              <a:ext cx="1980451" cy="53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 err="1"/>
                <a:t>NVMe</a:t>
              </a:r>
              <a:r>
                <a:rPr lang="en-US" altLang="ko-KR" sz="2000" dirty="0"/>
                <a:t> SSD</a:t>
              </a:r>
              <a:endParaRPr lang="ko-KR" altLang="en-US" sz="20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FDEC230-D6F4-4A6B-15CB-7472FC6BD5A2}"/>
              </a:ext>
            </a:extLst>
          </p:cNvPr>
          <p:cNvSpPr txBox="1"/>
          <p:nvPr/>
        </p:nvSpPr>
        <p:spPr>
          <a:xfrm>
            <a:off x="541866" y="548443"/>
            <a:ext cx="732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ko-KR" dirty="0" err="1"/>
              <a:t>Storage</a:t>
            </a:r>
            <a:r>
              <a:rPr lang="ko-KR" altLang="ko-KR" dirty="0"/>
              <a:t> </a:t>
            </a:r>
            <a:r>
              <a:rPr lang="ko-KR" altLang="ko-KR" dirty="0" err="1"/>
              <a:t>Server가</a:t>
            </a:r>
            <a:r>
              <a:rPr lang="ko-KR" altLang="ko-KR" dirty="0"/>
              <a:t> </a:t>
            </a:r>
            <a:r>
              <a:rPr lang="ko-KR" altLang="ko-KR" dirty="0" err="1"/>
              <a:t>SSD에서</a:t>
            </a:r>
            <a:r>
              <a:rPr lang="ko-KR" altLang="ko-KR" dirty="0"/>
              <a:t> </a:t>
            </a:r>
            <a:r>
              <a:rPr lang="en-US" altLang="ko-KR" dirty="0"/>
              <a:t>p</a:t>
            </a:r>
            <a:r>
              <a:rPr lang="ko-KR" altLang="ko-KR" dirty="0" err="1"/>
              <a:t>rompt를</a:t>
            </a:r>
            <a:r>
              <a:rPr lang="ko-KR" altLang="ko-KR" dirty="0"/>
              <a:t> 직접 </a:t>
            </a:r>
            <a:r>
              <a:rPr lang="ko-KR" altLang="en-US" dirty="0"/>
              <a:t>읽고 </a:t>
            </a:r>
            <a:r>
              <a:rPr lang="en-US" altLang="ko-KR" dirty="0"/>
              <a:t>RAG pipeline </a:t>
            </a:r>
            <a:r>
              <a:rPr lang="ko-KR" altLang="en-US" dirty="0"/>
              <a:t>수행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59CA27-CE3F-DA43-647C-790D340F0F8D}"/>
              </a:ext>
            </a:extLst>
          </p:cNvPr>
          <p:cNvSpPr txBox="1"/>
          <p:nvPr/>
        </p:nvSpPr>
        <p:spPr>
          <a:xfrm>
            <a:off x="2223145" y="2148039"/>
            <a:ext cx="1120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query</a:t>
            </a:r>
            <a:endParaRPr lang="ko-KR" alt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6DB2DB-570F-2964-88B8-DFFD51425A29}"/>
              </a:ext>
            </a:extLst>
          </p:cNvPr>
          <p:cNvSpPr txBox="1"/>
          <p:nvPr/>
        </p:nvSpPr>
        <p:spPr>
          <a:xfrm>
            <a:off x="6966062" y="2866034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1) Embedding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70854D-0128-99B5-F6C7-B9FD1DB1F80F}"/>
              </a:ext>
            </a:extLst>
          </p:cNvPr>
          <p:cNvSpPr txBox="1"/>
          <p:nvPr/>
        </p:nvSpPr>
        <p:spPr>
          <a:xfrm>
            <a:off x="6966062" y="3363302"/>
            <a:ext cx="2583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2) Similarity Search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5F5F08-3143-BFC6-FF0C-3BD069FD0D1F}"/>
              </a:ext>
            </a:extLst>
          </p:cNvPr>
          <p:cNvSpPr txBox="1"/>
          <p:nvPr/>
        </p:nvSpPr>
        <p:spPr>
          <a:xfrm>
            <a:off x="6966062" y="3860570"/>
            <a:ext cx="2733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3) Query Generation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37FDD0-984F-693D-7090-7C18CE7B4ACB}"/>
              </a:ext>
            </a:extLst>
          </p:cNvPr>
          <p:cNvSpPr txBox="1"/>
          <p:nvPr/>
        </p:nvSpPr>
        <p:spPr>
          <a:xfrm>
            <a:off x="6966062" y="4354393"/>
            <a:ext cx="2503579" cy="40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4) Tokenization</a:t>
            </a:r>
          </a:p>
        </p:txBody>
      </p:sp>
    </p:spTree>
    <p:extLst>
      <p:ext uri="{BB962C8B-B14F-4D97-AF65-F5344CB8AC3E}">
        <p14:creationId xmlns:p14="http://schemas.microsoft.com/office/powerpoint/2010/main" val="302448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D233-47E2-7DA0-848D-832C04AB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F6A07C2-BEAA-4F5F-AC4F-330A80416BE3}"/>
              </a:ext>
            </a:extLst>
          </p:cNvPr>
          <p:cNvSpPr txBox="1"/>
          <p:nvPr/>
        </p:nvSpPr>
        <p:spPr>
          <a:xfrm>
            <a:off x="4161713" y="1319705"/>
            <a:ext cx="3868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 Server</a:t>
            </a:r>
            <a:endParaRPr lang="ko-KR" altLang="en-US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C1741-E62A-F199-4122-1A50A7DA3B16}"/>
              </a:ext>
            </a:extLst>
          </p:cNvPr>
          <p:cNvSpPr txBox="1"/>
          <p:nvPr/>
        </p:nvSpPr>
        <p:spPr>
          <a:xfrm>
            <a:off x="541866" y="548443"/>
            <a:ext cx="732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ko-KR" dirty="0" err="1"/>
              <a:t>Storage</a:t>
            </a:r>
            <a:r>
              <a:rPr lang="ko-KR" altLang="ko-KR" dirty="0"/>
              <a:t> </a:t>
            </a:r>
            <a:r>
              <a:rPr lang="ko-KR" altLang="ko-KR" dirty="0" err="1"/>
              <a:t>Server가</a:t>
            </a:r>
            <a:r>
              <a:rPr lang="ko-KR" altLang="ko-KR" dirty="0"/>
              <a:t> </a:t>
            </a:r>
            <a:r>
              <a:rPr lang="ko-KR" altLang="ko-KR" dirty="0" err="1"/>
              <a:t>SSD에서</a:t>
            </a:r>
            <a:r>
              <a:rPr lang="ko-KR" altLang="ko-KR" dirty="0"/>
              <a:t> </a:t>
            </a:r>
            <a:r>
              <a:rPr lang="en-US" altLang="ko-KR" dirty="0"/>
              <a:t>p</a:t>
            </a:r>
            <a:r>
              <a:rPr lang="ko-KR" altLang="ko-KR" dirty="0" err="1"/>
              <a:t>rompt를</a:t>
            </a:r>
            <a:r>
              <a:rPr lang="ko-KR" altLang="ko-KR" dirty="0"/>
              <a:t> 직접 </a:t>
            </a:r>
            <a:r>
              <a:rPr lang="ko-KR" altLang="en-US" dirty="0"/>
              <a:t>읽고 </a:t>
            </a:r>
            <a:r>
              <a:rPr lang="en-US" altLang="ko-KR" dirty="0"/>
              <a:t>RAG pipeline </a:t>
            </a:r>
            <a:r>
              <a:rPr lang="ko-KR" altLang="en-US" dirty="0"/>
              <a:t>수행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6592E-CDB3-AAFE-B47F-B96CDA980C54}"/>
              </a:ext>
            </a:extLst>
          </p:cNvPr>
          <p:cNvSpPr txBox="1"/>
          <p:nvPr/>
        </p:nvSpPr>
        <p:spPr>
          <a:xfrm>
            <a:off x="6718318" y="2598015"/>
            <a:ext cx="1120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query</a:t>
            </a:r>
            <a:endParaRPr lang="ko-KR" alt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E06A13-7D92-A0BD-9453-159700ECD173}"/>
              </a:ext>
            </a:extLst>
          </p:cNvPr>
          <p:cNvSpPr txBox="1"/>
          <p:nvPr/>
        </p:nvSpPr>
        <p:spPr>
          <a:xfrm>
            <a:off x="6981082" y="2115481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1) Embedding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EAD6CF-3907-9DC0-486F-99D79B81FECE}"/>
              </a:ext>
            </a:extLst>
          </p:cNvPr>
          <p:cNvSpPr txBox="1"/>
          <p:nvPr/>
        </p:nvSpPr>
        <p:spPr>
          <a:xfrm>
            <a:off x="6981082" y="4161544"/>
            <a:ext cx="2565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2) Similarity Search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E8A8C4-3438-4B94-BBD2-AC4E5CB30613}"/>
              </a:ext>
            </a:extLst>
          </p:cNvPr>
          <p:cNvSpPr txBox="1"/>
          <p:nvPr/>
        </p:nvSpPr>
        <p:spPr>
          <a:xfrm>
            <a:off x="6981082" y="4658812"/>
            <a:ext cx="2733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3) Query Generation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820CEE-93F3-6270-4703-E0862888F5D5}"/>
              </a:ext>
            </a:extLst>
          </p:cNvPr>
          <p:cNvSpPr txBox="1"/>
          <p:nvPr/>
        </p:nvSpPr>
        <p:spPr>
          <a:xfrm>
            <a:off x="6981082" y="5152634"/>
            <a:ext cx="2799952" cy="40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4) Tokenization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E581FC1-205B-643F-91A5-D8B0DD322643}"/>
              </a:ext>
            </a:extLst>
          </p:cNvPr>
          <p:cNvGrpSpPr/>
          <p:nvPr/>
        </p:nvGrpSpPr>
        <p:grpSpPr>
          <a:xfrm>
            <a:off x="1905958" y="3153793"/>
            <a:ext cx="1598148" cy="1888398"/>
            <a:chOff x="820438" y="2703222"/>
            <a:chExt cx="2155045" cy="2542362"/>
          </a:xfrm>
        </p:grpSpPr>
        <p:pic>
          <p:nvPicPr>
            <p:cNvPr id="22" name="그래픽 21" descr="데이터베이스 단색으로 채워진">
              <a:extLst>
                <a:ext uri="{FF2B5EF4-FFF2-40B4-BE49-F238E27FC236}">
                  <a16:creationId xmlns:a16="http://schemas.microsoft.com/office/drawing/2014/main" id="{24B93F04-D330-86DD-EA33-F8E3A1EDF8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2F672DF-D63A-2F0D-DAD8-27ABBDDF6272}"/>
                </a:ext>
              </a:extLst>
            </p:cNvPr>
            <p:cNvSpPr txBox="1"/>
            <p:nvPr/>
          </p:nvSpPr>
          <p:spPr>
            <a:xfrm>
              <a:off x="927626" y="4706913"/>
              <a:ext cx="1980451" cy="53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 err="1"/>
                <a:t>NVMe</a:t>
              </a:r>
              <a:r>
                <a:rPr lang="en-US" altLang="ko-KR" sz="2000" dirty="0"/>
                <a:t> SSD</a:t>
              </a:r>
              <a:endParaRPr lang="ko-KR" altLang="en-US" sz="20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2EB104F-93DF-F1A7-A094-62DF8EB38E8C}"/>
              </a:ext>
            </a:extLst>
          </p:cNvPr>
          <p:cNvGrpSpPr/>
          <p:nvPr/>
        </p:nvGrpSpPr>
        <p:grpSpPr>
          <a:xfrm>
            <a:off x="4611120" y="2961727"/>
            <a:ext cx="1984840" cy="1984840"/>
            <a:chOff x="6839603" y="2846536"/>
            <a:chExt cx="1984840" cy="1984840"/>
          </a:xfrm>
        </p:grpSpPr>
        <p:pic>
          <p:nvPicPr>
            <p:cNvPr id="28" name="그래픽 27" descr="모니터 단색으로 채워진">
              <a:extLst>
                <a:ext uri="{FF2B5EF4-FFF2-40B4-BE49-F238E27FC236}">
                  <a16:creationId xmlns:a16="http://schemas.microsoft.com/office/drawing/2014/main" id="{153BC879-B1F2-7A19-BE45-ECEE7B6ED4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A0B9C0-A47D-299F-6E59-888759F85212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956395A-5A80-CB56-D64D-26513F318D6A}"/>
              </a:ext>
            </a:extLst>
          </p:cNvPr>
          <p:cNvCxnSpPr>
            <a:cxnSpLocks/>
            <a:stCxn id="23" idx="3"/>
            <a:endCxn id="37" idx="1"/>
          </p:cNvCxnSpPr>
          <p:nvPr/>
        </p:nvCxnSpPr>
        <p:spPr>
          <a:xfrm>
            <a:off x="7838689" y="2859625"/>
            <a:ext cx="7559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82395F4-A6C8-14FC-D6F8-C2FDA34971D5}"/>
              </a:ext>
            </a:extLst>
          </p:cNvPr>
          <p:cNvSpPr txBox="1"/>
          <p:nvPr/>
        </p:nvSpPr>
        <p:spPr>
          <a:xfrm>
            <a:off x="8594643" y="2598015"/>
            <a:ext cx="1181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vector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99792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558F-00B7-61A7-08AF-6D0E8F75A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07369E-5F4B-D3D0-8F20-B0FEE241CB2F}"/>
              </a:ext>
            </a:extLst>
          </p:cNvPr>
          <p:cNvSpPr txBox="1"/>
          <p:nvPr/>
        </p:nvSpPr>
        <p:spPr>
          <a:xfrm>
            <a:off x="4161713" y="1319705"/>
            <a:ext cx="3868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 Server</a:t>
            </a:r>
            <a:endParaRPr lang="ko-KR" altLang="en-US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DA0A22-99BE-8FE0-6805-7972A18E2D17}"/>
              </a:ext>
            </a:extLst>
          </p:cNvPr>
          <p:cNvSpPr txBox="1"/>
          <p:nvPr/>
        </p:nvSpPr>
        <p:spPr>
          <a:xfrm>
            <a:off x="541866" y="548443"/>
            <a:ext cx="732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ko-KR" dirty="0" err="1"/>
              <a:t>Storage</a:t>
            </a:r>
            <a:r>
              <a:rPr lang="ko-KR" altLang="ko-KR" dirty="0"/>
              <a:t> </a:t>
            </a:r>
            <a:r>
              <a:rPr lang="ko-KR" altLang="ko-KR" dirty="0" err="1"/>
              <a:t>Server가</a:t>
            </a:r>
            <a:r>
              <a:rPr lang="ko-KR" altLang="ko-KR" dirty="0"/>
              <a:t> </a:t>
            </a:r>
            <a:r>
              <a:rPr lang="ko-KR" altLang="ko-KR" dirty="0" err="1"/>
              <a:t>SSD에서</a:t>
            </a:r>
            <a:r>
              <a:rPr lang="ko-KR" altLang="ko-KR" dirty="0"/>
              <a:t> </a:t>
            </a:r>
            <a:r>
              <a:rPr lang="en-US" altLang="ko-KR" dirty="0"/>
              <a:t>p</a:t>
            </a:r>
            <a:r>
              <a:rPr lang="ko-KR" altLang="ko-KR" dirty="0" err="1"/>
              <a:t>rompt를</a:t>
            </a:r>
            <a:r>
              <a:rPr lang="ko-KR" altLang="ko-KR" dirty="0"/>
              <a:t> 직접 </a:t>
            </a:r>
            <a:r>
              <a:rPr lang="ko-KR" altLang="en-US" dirty="0"/>
              <a:t>읽고 </a:t>
            </a:r>
            <a:r>
              <a:rPr lang="en-US" altLang="ko-KR" dirty="0"/>
              <a:t>RAG pipeline </a:t>
            </a:r>
            <a:r>
              <a:rPr lang="ko-KR" altLang="en-US" dirty="0"/>
              <a:t>수행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0D986C-C9BD-29B5-DE7B-FA27EDCD0758}"/>
              </a:ext>
            </a:extLst>
          </p:cNvPr>
          <p:cNvSpPr txBox="1"/>
          <p:nvPr/>
        </p:nvSpPr>
        <p:spPr>
          <a:xfrm>
            <a:off x="6981082" y="2115481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1) Embedding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305CE8-08DC-E89E-267B-776266D450C8}"/>
              </a:ext>
            </a:extLst>
          </p:cNvPr>
          <p:cNvSpPr txBox="1"/>
          <p:nvPr/>
        </p:nvSpPr>
        <p:spPr>
          <a:xfrm>
            <a:off x="6981082" y="2485141"/>
            <a:ext cx="2565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2) Similarity Search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79FCB5-A8AA-A097-4F45-78FEA6E1D68A}"/>
              </a:ext>
            </a:extLst>
          </p:cNvPr>
          <p:cNvSpPr txBox="1"/>
          <p:nvPr/>
        </p:nvSpPr>
        <p:spPr>
          <a:xfrm>
            <a:off x="6981082" y="4658812"/>
            <a:ext cx="2733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3) Query Generation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5EA56C-DC15-4558-904C-B201A147DC33}"/>
              </a:ext>
            </a:extLst>
          </p:cNvPr>
          <p:cNvSpPr txBox="1"/>
          <p:nvPr/>
        </p:nvSpPr>
        <p:spPr>
          <a:xfrm>
            <a:off x="6981082" y="5152634"/>
            <a:ext cx="2799952" cy="40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4) Tokenization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242EF4A-4B1A-498D-DEC4-D57020BF631E}"/>
              </a:ext>
            </a:extLst>
          </p:cNvPr>
          <p:cNvGrpSpPr/>
          <p:nvPr/>
        </p:nvGrpSpPr>
        <p:grpSpPr>
          <a:xfrm>
            <a:off x="1905958" y="3153793"/>
            <a:ext cx="1598148" cy="1888398"/>
            <a:chOff x="820438" y="2703222"/>
            <a:chExt cx="2155045" cy="2542362"/>
          </a:xfrm>
        </p:grpSpPr>
        <p:pic>
          <p:nvPicPr>
            <p:cNvPr id="22" name="그래픽 21" descr="데이터베이스 단색으로 채워진">
              <a:extLst>
                <a:ext uri="{FF2B5EF4-FFF2-40B4-BE49-F238E27FC236}">
                  <a16:creationId xmlns:a16="http://schemas.microsoft.com/office/drawing/2014/main" id="{F18C6571-8DD4-70A6-3170-79AD15A84B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0AF3FA-98C3-5D5E-A15A-7CD62BE09748}"/>
                </a:ext>
              </a:extLst>
            </p:cNvPr>
            <p:cNvSpPr txBox="1"/>
            <p:nvPr/>
          </p:nvSpPr>
          <p:spPr>
            <a:xfrm>
              <a:off x="927626" y="4706913"/>
              <a:ext cx="1980451" cy="53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 err="1"/>
                <a:t>NVMe</a:t>
              </a:r>
              <a:r>
                <a:rPr lang="en-US" altLang="ko-KR" sz="2000" dirty="0"/>
                <a:t> SSD</a:t>
              </a:r>
              <a:endParaRPr lang="ko-KR" altLang="en-US" sz="20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BE8020C-8CAC-180E-ED5C-433A0177CF70}"/>
              </a:ext>
            </a:extLst>
          </p:cNvPr>
          <p:cNvGrpSpPr/>
          <p:nvPr/>
        </p:nvGrpSpPr>
        <p:grpSpPr>
          <a:xfrm>
            <a:off x="4611120" y="2961727"/>
            <a:ext cx="1984840" cy="1984840"/>
            <a:chOff x="6839603" y="2846536"/>
            <a:chExt cx="1984840" cy="1984840"/>
          </a:xfrm>
        </p:grpSpPr>
        <p:pic>
          <p:nvPicPr>
            <p:cNvPr id="28" name="그래픽 27" descr="모니터 단색으로 채워진">
              <a:extLst>
                <a:ext uri="{FF2B5EF4-FFF2-40B4-BE49-F238E27FC236}">
                  <a16:creationId xmlns:a16="http://schemas.microsoft.com/office/drawing/2014/main" id="{1BE92E95-0E6C-EFD7-48C1-99B4175928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4FFACB-6D27-B172-E408-A85A114FC7E7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A1C0E0A-0835-03AF-CD90-86A3CECFEBE0}"/>
              </a:ext>
            </a:extLst>
          </p:cNvPr>
          <p:cNvSpPr txBox="1"/>
          <p:nvPr/>
        </p:nvSpPr>
        <p:spPr>
          <a:xfrm>
            <a:off x="6849002" y="2885251"/>
            <a:ext cx="1181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vector</a:t>
            </a:r>
            <a:endParaRPr lang="ko-KR" altLang="en-US" sz="28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85C2251-EE7C-E5FC-1C69-B88E183AA0B8}"/>
              </a:ext>
            </a:extLst>
          </p:cNvPr>
          <p:cNvCxnSpPr>
            <a:stCxn id="4" idx="3"/>
          </p:cNvCxnSpPr>
          <p:nvPr/>
        </p:nvCxnSpPr>
        <p:spPr>
          <a:xfrm>
            <a:off x="8030287" y="3146861"/>
            <a:ext cx="656513" cy="6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655D7C-4D58-587C-7A4C-BA1DEC34351B}"/>
              </a:ext>
            </a:extLst>
          </p:cNvPr>
          <p:cNvSpPr txBox="1"/>
          <p:nvPr/>
        </p:nvSpPr>
        <p:spPr>
          <a:xfrm>
            <a:off x="8686800" y="2978963"/>
            <a:ext cx="2760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PostgreSQL Vector DB</a:t>
            </a:r>
            <a:endParaRPr lang="ko-KR" altLang="en-US" sz="20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90C684F-4002-1E29-273F-264F1A516385}"/>
              </a:ext>
            </a:extLst>
          </p:cNvPr>
          <p:cNvGrpSpPr/>
          <p:nvPr/>
        </p:nvGrpSpPr>
        <p:grpSpPr>
          <a:xfrm>
            <a:off x="9293482" y="3379073"/>
            <a:ext cx="1420582" cy="1131696"/>
            <a:chOff x="9293482" y="3379073"/>
            <a:chExt cx="1420582" cy="11316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5C369F-782F-82E2-8969-A186C339D09C}"/>
                </a:ext>
              </a:extLst>
            </p:cNvPr>
            <p:cNvSpPr txBox="1"/>
            <p:nvPr/>
          </p:nvSpPr>
          <p:spPr>
            <a:xfrm>
              <a:off x="9293482" y="4141437"/>
              <a:ext cx="1420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관련 문서들</a:t>
              </a:r>
            </a:p>
          </p:txBody>
        </p:sp>
        <p:pic>
          <p:nvPicPr>
            <p:cNvPr id="12" name="그래픽 11" descr="서적 윤곽선">
              <a:extLst>
                <a:ext uri="{FF2B5EF4-FFF2-40B4-BE49-F238E27FC236}">
                  <a16:creationId xmlns:a16="http://schemas.microsoft.com/office/drawing/2014/main" id="{F4FF1D22-7330-8C2C-7C03-6DD6FBAC0F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46573" y="337907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086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E048-4900-0A58-4672-D7674A715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DB870C5-09D5-232D-9CFA-941091BA99D7}"/>
              </a:ext>
            </a:extLst>
          </p:cNvPr>
          <p:cNvSpPr txBox="1"/>
          <p:nvPr/>
        </p:nvSpPr>
        <p:spPr>
          <a:xfrm>
            <a:off x="4161713" y="1319705"/>
            <a:ext cx="3868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 Server</a:t>
            </a:r>
            <a:endParaRPr lang="ko-KR" altLang="en-US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10FBB5-5E09-6268-234E-FDEC5584C2C2}"/>
              </a:ext>
            </a:extLst>
          </p:cNvPr>
          <p:cNvSpPr txBox="1"/>
          <p:nvPr/>
        </p:nvSpPr>
        <p:spPr>
          <a:xfrm>
            <a:off x="541866" y="548443"/>
            <a:ext cx="732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ko-KR" dirty="0" err="1"/>
              <a:t>Storage</a:t>
            </a:r>
            <a:r>
              <a:rPr lang="ko-KR" altLang="ko-KR" dirty="0"/>
              <a:t> </a:t>
            </a:r>
            <a:r>
              <a:rPr lang="ko-KR" altLang="ko-KR" dirty="0" err="1"/>
              <a:t>Server가</a:t>
            </a:r>
            <a:r>
              <a:rPr lang="ko-KR" altLang="ko-KR" dirty="0"/>
              <a:t> </a:t>
            </a:r>
            <a:r>
              <a:rPr lang="ko-KR" altLang="ko-KR" dirty="0" err="1"/>
              <a:t>SSD에서</a:t>
            </a:r>
            <a:r>
              <a:rPr lang="ko-KR" altLang="ko-KR" dirty="0"/>
              <a:t> </a:t>
            </a:r>
            <a:r>
              <a:rPr lang="en-US" altLang="ko-KR" dirty="0"/>
              <a:t>p</a:t>
            </a:r>
            <a:r>
              <a:rPr lang="ko-KR" altLang="ko-KR" dirty="0" err="1"/>
              <a:t>rompt를</a:t>
            </a:r>
            <a:r>
              <a:rPr lang="ko-KR" altLang="ko-KR" dirty="0"/>
              <a:t> 직접 </a:t>
            </a:r>
            <a:r>
              <a:rPr lang="ko-KR" altLang="en-US" dirty="0"/>
              <a:t>읽고 </a:t>
            </a:r>
            <a:r>
              <a:rPr lang="en-US" altLang="ko-KR" dirty="0"/>
              <a:t>RAG pipeline </a:t>
            </a:r>
            <a:r>
              <a:rPr lang="ko-KR" altLang="en-US" dirty="0"/>
              <a:t>수행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742681-EEA9-F679-F34C-5006AABE87E3}"/>
              </a:ext>
            </a:extLst>
          </p:cNvPr>
          <p:cNvSpPr txBox="1"/>
          <p:nvPr/>
        </p:nvSpPr>
        <p:spPr>
          <a:xfrm>
            <a:off x="6981082" y="2115481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1) Embedding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6D49E0-840A-9C5C-782C-E02075CF3605}"/>
              </a:ext>
            </a:extLst>
          </p:cNvPr>
          <p:cNvSpPr txBox="1"/>
          <p:nvPr/>
        </p:nvSpPr>
        <p:spPr>
          <a:xfrm>
            <a:off x="6981082" y="2485141"/>
            <a:ext cx="2565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2) Similarity Search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DF1CDD-B0EF-0329-3811-733A1EBAB523}"/>
              </a:ext>
            </a:extLst>
          </p:cNvPr>
          <p:cNvSpPr txBox="1"/>
          <p:nvPr/>
        </p:nvSpPr>
        <p:spPr>
          <a:xfrm>
            <a:off x="6981082" y="2840013"/>
            <a:ext cx="2733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3) Query Generation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1351B4-ED4D-9FC8-8AA3-E369B8F6E339}"/>
              </a:ext>
            </a:extLst>
          </p:cNvPr>
          <p:cNvSpPr txBox="1"/>
          <p:nvPr/>
        </p:nvSpPr>
        <p:spPr>
          <a:xfrm>
            <a:off x="6981082" y="5152634"/>
            <a:ext cx="2799952" cy="40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4) Tokenization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10C6E93-98B5-DE6E-11DB-0606BFD370C5}"/>
              </a:ext>
            </a:extLst>
          </p:cNvPr>
          <p:cNvGrpSpPr/>
          <p:nvPr/>
        </p:nvGrpSpPr>
        <p:grpSpPr>
          <a:xfrm>
            <a:off x="1905958" y="3153793"/>
            <a:ext cx="1598148" cy="1888398"/>
            <a:chOff x="820438" y="2703222"/>
            <a:chExt cx="2155045" cy="2542362"/>
          </a:xfrm>
        </p:grpSpPr>
        <p:pic>
          <p:nvPicPr>
            <p:cNvPr id="22" name="그래픽 21" descr="데이터베이스 단색으로 채워진">
              <a:extLst>
                <a:ext uri="{FF2B5EF4-FFF2-40B4-BE49-F238E27FC236}">
                  <a16:creationId xmlns:a16="http://schemas.microsoft.com/office/drawing/2014/main" id="{8302C8AC-A726-3FBB-A11D-DF9FE92ADD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F29DA4-CC6C-014D-4698-F4AA80F9D33C}"/>
                </a:ext>
              </a:extLst>
            </p:cNvPr>
            <p:cNvSpPr txBox="1"/>
            <p:nvPr/>
          </p:nvSpPr>
          <p:spPr>
            <a:xfrm>
              <a:off x="927626" y="4706913"/>
              <a:ext cx="1980451" cy="53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 err="1"/>
                <a:t>NVMe</a:t>
              </a:r>
              <a:r>
                <a:rPr lang="en-US" altLang="ko-KR" sz="2000" dirty="0"/>
                <a:t> SSD</a:t>
              </a:r>
              <a:endParaRPr lang="ko-KR" altLang="en-US" sz="20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2FA18C7-E6A8-0152-C687-7E8858E06F84}"/>
              </a:ext>
            </a:extLst>
          </p:cNvPr>
          <p:cNvGrpSpPr/>
          <p:nvPr/>
        </p:nvGrpSpPr>
        <p:grpSpPr>
          <a:xfrm>
            <a:off x="4611120" y="2961727"/>
            <a:ext cx="1984840" cy="1984840"/>
            <a:chOff x="6839603" y="2846536"/>
            <a:chExt cx="1984840" cy="1984840"/>
          </a:xfrm>
        </p:grpSpPr>
        <p:pic>
          <p:nvPicPr>
            <p:cNvPr id="28" name="그래픽 27" descr="모니터 단색으로 채워진">
              <a:extLst>
                <a:ext uri="{FF2B5EF4-FFF2-40B4-BE49-F238E27FC236}">
                  <a16:creationId xmlns:a16="http://schemas.microsoft.com/office/drawing/2014/main" id="{39CCBACB-961B-51DC-B6D0-6105A712CE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005D67-ACA2-7BB9-4CF6-486031E9722A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631B211-9649-2967-C147-3086EBFC9197}"/>
              </a:ext>
            </a:extLst>
          </p:cNvPr>
          <p:cNvGrpSpPr/>
          <p:nvPr/>
        </p:nvGrpSpPr>
        <p:grpSpPr>
          <a:xfrm>
            <a:off x="7080236" y="3564545"/>
            <a:ext cx="1285271" cy="1098154"/>
            <a:chOff x="9293482" y="3379073"/>
            <a:chExt cx="1420582" cy="119934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BDFCF7-4A57-AB51-52A6-3A42C39540C1}"/>
                </a:ext>
              </a:extLst>
            </p:cNvPr>
            <p:cNvSpPr txBox="1"/>
            <p:nvPr/>
          </p:nvSpPr>
          <p:spPr>
            <a:xfrm>
              <a:off x="9293482" y="4209082"/>
              <a:ext cx="1420582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관련 문서들</a:t>
              </a:r>
            </a:p>
          </p:txBody>
        </p:sp>
        <p:pic>
          <p:nvPicPr>
            <p:cNvPr id="12" name="그래픽 11" descr="서적 윤곽선">
              <a:extLst>
                <a:ext uri="{FF2B5EF4-FFF2-40B4-BE49-F238E27FC236}">
                  <a16:creationId xmlns:a16="http://schemas.microsoft.com/office/drawing/2014/main" id="{16F609E9-795F-4EB2-6BFB-6E3175C41D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46573" y="3379073"/>
              <a:ext cx="914400" cy="9144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2BAD998-CAFA-BC35-93FA-43A27B005988}"/>
              </a:ext>
            </a:extLst>
          </p:cNvPr>
          <p:cNvSpPr txBox="1"/>
          <p:nvPr/>
        </p:nvSpPr>
        <p:spPr>
          <a:xfrm>
            <a:off x="8735609" y="3667402"/>
            <a:ext cx="1120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query</a:t>
            </a:r>
            <a:endParaRPr lang="ko-KR" alt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1EF27-49B9-D737-016F-62A86C87F273}"/>
              </a:ext>
            </a:extLst>
          </p:cNvPr>
          <p:cNvSpPr txBox="1"/>
          <p:nvPr/>
        </p:nvSpPr>
        <p:spPr>
          <a:xfrm>
            <a:off x="7276235" y="3863569"/>
            <a:ext cx="2579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/>
              <a:t>Argumented</a:t>
            </a:r>
            <a:r>
              <a:rPr lang="en-US" altLang="ko-KR" sz="2000" dirty="0"/>
              <a:t> Prompt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13559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3CA05-BAF7-8878-D031-C06FC0BBC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D373D8B-4E5A-EEC8-DF4B-5848EF490B51}"/>
              </a:ext>
            </a:extLst>
          </p:cNvPr>
          <p:cNvSpPr txBox="1"/>
          <p:nvPr/>
        </p:nvSpPr>
        <p:spPr>
          <a:xfrm>
            <a:off x="4161713" y="1319705"/>
            <a:ext cx="3868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 Server</a:t>
            </a:r>
            <a:endParaRPr lang="ko-KR" altLang="en-US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B9406-F0FF-85E2-ADD5-D34BDE2CAA71}"/>
              </a:ext>
            </a:extLst>
          </p:cNvPr>
          <p:cNvSpPr txBox="1"/>
          <p:nvPr/>
        </p:nvSpPr>
        <p:spPr>
          <a:xfrm>
            <a:off x="541866" y="548443"/>
            <a:ext cx="732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ko-KR" dirty="0" err="1"/>
              <a:t>Storage</a:t>
            </a:r>
            <a:r>
              <a:rPr lang="ko-KR" altLang="ko-KR" dirty="0"/>
              <a:t> </a:t>
            </a:r>
            <a:r>
              <a:rPr lang="ko-KR" altLang="ko-KR" dirty="0" err="1"/>
              <a:t>Server가</a:t>
            </a:r>
            <a:r>
              <a:rPr lang="ko-KR" altLang="ko-KR" dirty="0"/>
              <a:t> </a:t>
            </a:r>
            <a:r>
              <a:rPr lang="ko-KR" altLang="ko-KR" dirty="0" err="1"/>
              <a:t>SSD에서</a:t>
            </a:r>
            <a:r>
              <a:rPr lang="ko-KR" altLang="ko-KR" dirty="0"/>
              <a:t> </a:t>
            </a:r>
            <a:r>
              <a:rPr lang="en-US" altLang="ko-KR" dirty="0"/>
              <a:t>p</a:t>
            </a:r>
            <a:r>
              <a:rPr lang="ko-KR" altLang="ko-KR" dirty="0" err="1"/>
              <a:t>rompt를</a:t>
            </a:r>
            <a:r>
              <a:rPr lang="ko-KR" altLang="ko-KR" dirty="0"/>
              <a:t> 직접 </a:t>
            </a:r>
            <a:r>
              <a:rPr lang="ko-KR" altLang="en-US" dirty="0"/>
              <a:t>읽고 </a:t>
            </a:r>
            <a:r>
              <a:rPr lang="en-US" altLang="ko-KR" dirty="0"/>
              <a:t>RAG pipeline </a:t>
            </a:r>
            <a:r>
              <a:rPr lang="ko-KR" altLang="en-US" dirty="0"/>
              <a:t>수행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36A78-C8F5-2CB8-6D49-A55BF8D334C5}"/>
              </a:ext>
            </a:extLst>
          </p:cNvPr>
          <p:cNvSpPr txBox="1"/>
          <p:nvPr/>
        </p:nvSpPr>
        <p:spPr>
          <a:xfrm>
            <a:off x="6981082" y="2115481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1) Embedding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68A070-DB44-F5F6-68B5-041503A547F6}"/>
              </a:ext>
            </a:extLst>
          </p:cNvPr>
          <p:cNvSpPr txBox="1"/>
          <p:nvPr/>
        </p:nvSpPr>
        <p:spPr>
          <a:xfrm>
            <a:off x="6981082" y="2485141"/>
            <a:ext cx="2565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2) Similarity Search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CD8934-2EC0-89A8-E2A3-4D6DF11D2281}"/>
              </a:ext>
            </a:extLst>
          </p:cNvPr>
          <p:cNvSpPr txBox="1"/>
          <p:nvPr/>
        </p:nvSpPr>
        <p:spPr>
          <a:xfrm>
            <a:off x="6981082" y="2840013"/>
            <a:ext cx="2733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3) Query Generation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CDFEBB-912E-4F7A-1045-3691FF71E636}"/>
              </a:ext>
            </a:extLst>
          </p:cNvPr>
          <p:cNvSpPr txBox="1"/>
          <p:nvPr/>
        </p:nvSpPr>
        <p:spPr>
          <a:xfrm>
            <a:off x="6981082" y="3209673"/>
            <a:ext cx="2799952" cy="40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4) Tokenization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4B1D1DD-19CE-6136-61A7-10A27249AF4D}"/>
              </a:ext>
            </a:extLst>
          </p:cNvPr>
          <p:cNvGrpSpPr/>
          <p:nvPr/>
        </p:nvGrpSpPr>
        <p:grpSpPr>
          <a:xfrm>
            <a:off x="1905958" y="3153793"/>
            <a:ext cx="1598148" cy="1888398"/>
            <a:chOff x="820438" y="2703222"/>
            <a:chExt cx="2155045" cy="2542362"/>
          </a:xfrm>
        </p:grpSpPr>
        <p:pic>
          <p:nvPicPr>
            <p:cNvPr id="22" name="그래픽 21" descr="데이터베이스 단색으로 채워진">
              <a:extLst>
                <a:ext uri="{FF2B5EF4-FFF2-40B4-BE49-F238E27FC236}">
                  <a16:creationId xmlns:a16="http://schemas.microsoft.com/office/drawing/2014/main" id="{450A76AC-99A0-5984-4ED5-3051E2EF66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3A139AB-FE33-5A2F-6708-F5EA41ACCA0E}"/>
                </a:ext>
              </a:extLst>
            </p:cNvPr>
            <p:cNvSpPr txBox="1"/>
            <p:nvPr/>
          </p:nvSpPr>
          <p:spPr>
            <a:xfrm>
              <a:off x="927626" y="4706913"/>
              <a:ext cx="1980451" cy="53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 err="1"/>
                <a:t>NVMe</a:t>
              </a:r>
              <a:r>
                <a:rPr lang="en-US" altLang="ko-KR" sz="2000" dirty="0"/>
                <a:t> SSD</a:t>
              </a:r>
              <a:endParaRPr lang="ko-KR" altLang="en-US" sz="20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BA3CDA-259D-7749-C5BF-49EFE5917C15}"/>
              </a:ext>
            </a:extLst>
          </p:cNvPr>
          <p:cNvGrpSpPr/>
          <p:nvPr/>
        </p:nvGrpSpPr>
        <p:grpSpPr>
          <a:xfrm>
            <a:off x="4611120" y="2961727"/>
            <a:ext cx="1984840" cy="1984840"/>
            <a:chOff x="6839603" y="2846536"/>
            <a:chExt cx="1984840" cy="1984840"/>
          </a:xfrm>
        </p:grpSpPr>
        <p:pic>
          <p:nvPicPr>
            <p:cNvPr id="28" name="그래픽 27" descr="모니터 단색으로 채워진">
              <a:extLst>
                <a:ext uri="{FF2B5EF4-FFF2-40B4-BE49-F238E27FC236}">
                  <a16:creationId xmlns:a16="http://schemas.microsoft.com/office/drawing/2014/main" id="{4A7D0E2C-BD24-A6EB-10AD-4CE98C4BF8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C517B51-3B58-DCA5-C82C-3729055EEBF3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29EE830-3F9E-5700-1903-BA48BE3EA7EB}"/>
              </a:ext>
            </a:extLst>
          </p:cNvPr>
          <p:cNvSpPr txBox="1"/>
          <p:nvPr/>
        </p:nvSpPr>
        <p:spPr>
          <a:xfrm>
            <a:off x="6812642" y="3730440"/>
            <a:ext cx="2340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Argumented</a:t>
            </a:r>
            <a:r>
              <a:rPr lang="en-US" altLang="ko-KR" dirty="0"/>
              <a:t> Prompt</a:t>
            </a:r>
            <a:endParaRPr lang="ko-KR" altLang="en-US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147A33C-C1D5-BD44-9EA8-9697DA80E9E1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9152898" y="3915106"/>
            <a:ext cx="3936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9FE646-45A1-206C-AF51-AE4465694E2A}"/>
              </a:ext>
            </a:extLst>
          </p:cNvPr>
          <p:cNvSpPr txBox="1"/>
          <p:nvPr/>
        </p:nvSpPr>
        <p:spPr>
          <a:xfrm>
            <a:off x="9546573" y="3730440"/>
            <a:ext cx="2189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Token ID Sequence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5644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B29B4-7209-3E0A-DA91-F2AFE5A51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5EE5353-7DED-3E4B-83D1-D8AC88631358}"/>
              </a:ext>
            </a:extLst>
          </p:cNvPr>
          <p:cNvSpPr txBox="1"/>
          <p:nvPr/>
        </p:nvSpPr>
        <p:spPr>
          <a:xfrm>
            <a:off x="4161713" y="1319705"/>
            <a:ext cx="3868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 Server</a:t>
            </a:r>
            <a:endParaRPr lang="ko-KR" altLang="en-US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16E280-C926-E752-2893-6860933A16EE}"/>
              </a:ext>
            </a:extLst>
          </p:cNvPr>
          <p:cNvSpPr txBox="1"/>
          <p:nvPr/>
        </p:nvSpPr>
        <p:spPr>
          <a:xfrm>
            <a:off x="541866" y="548443"/>
            <a:ext cx="3909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생성한 </a:t>
            </a:r>
            <a:r>
              <a:rPr lang="en-US" altLang="ko-KR" dirty="0"/>
              <a:t>Token</a:t>
            </a:r>
            <a:r>
              <a:rPr lang="ko-KR" altLang="en-US" dirty="0"/>
              <a:t>을 </a:t>
            </a:r>
            <a:r>
              <a:rPr lang="en-US" altLang="ko-KR" dirty="0" err="1"/>
              <a:t>ouput.bin</a:t>
            </a:r>
            <a:r>
              <a:rPr lang="ko-KR" altLang="en-US" dirty="0"/>
              <a:t>에 기록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2CC331-EC65-7978-23BB-AE226B90C060}"/>
              </a:ext>
            </a:extLst>
          </p:cNvPr>
          <p:cNvSpPr txBox="1"/>
          <p:nvPr/>
        </p:nvSpPr>
        <p:spPr>
          <a:xfrm>
            <a:off x="6981082" y="2115481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1) Embedding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63F4B9-B31E-3BEA-F76D-387FAC5D9CA4}"/>
              </a:ext>
            </a:extLst>
          </p:cNvPr>
          <p:cNvSpPr txBox="1"/>
          <p:nvPr/>
        </p:nvSpPr>
        <p:spPr>
          <a:xfrm>
            <a:off x="6981082" y="2485141"/>
            <a:ext cx="2565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2) Similarity Search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2DA378-A5B3-83DD-D0DF-8D77FC039DD2}"/>
              </a:ext>
            </a:extLst>
          </p:cNvPr>
          <p:cNvSpPr txBox="1"/>
          <p:nvPr/>
        </p:nvSpPr>
        <p:spPr>
          <a:xfrm>
            <a:off x="6981082" y="2840013"/>
            <a:ext cx="2733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</a:rPr>
              <a:t>3) Query Generation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374290-7EDA-7B5A-E658-FCBBABAB5EE1}"/>
              </a:ext>
            </a:extLst>
          </p:cNvPr>
          <p:cNvSpPr txBox="1"/>
          <p:nvPr/>
        </p:nvSpPr>
        <p:spPr>
          <a:xfrm>
            <a:off x="6981082" y="3209673"/>
            <a:ext cx="2799952" cy="40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4) Tokenization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649A170-8312-CD3F-A7FE-DFBE529F5713}"/>
              </a:ext>
            </a:extLst>
          </p:cNvPr>
          <p:cNvGrpSpPr/>
          <p:nvPr/>
        </p:nvGrpSpPr>
        <p:grpSpPr>
          <a:xfrm>
            <a:off x="1905958" y="3153793"/>
            <a:ext cx="1598148" cy="1888398"/>
            <a:chOff x="820438" y="2703222"/>
            <a:chExt cx="2155045" cy="2542362"/>
          </a:xfrm>
        </p:grpSpPr>
        <p:pic>
          <p:nvPicPr>
            <p:cNvPr id="22" name="그래픽 21" descr="데이터베이스 단색으로 채워진">
              <a:extLst>
                <a:ext uri="{FF2B5EF4-FFF2-40B4-BE49-F238E27FC236}">
                  <a16:creationId xmlns:a16="http://schemas.microsoft.com/office/drawing/2014/main" id="{A53BECAB-CDA6-36A0-F771-48AC91DDD7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A67D99-4BE9-E0C4-B8B8-A20D819666D2}"/>
                </a:ext>
              </a:extLst>
            </p:cNvPr>
            <p:cNvSpPr txBox="1"/>
            <p:nvPr/>
          </p:nvSpPr>
          <p:spPr>
            <a:xfrm>
              <a:off x="927626" y="4706913"/>
              <a:ext cx="1980451" cy="53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 err="1"/>
                <a:t>NVMe</a:t>
              </a:r>
              <a:r>
                <a:rPr lang="en-US" altLang="ko-KR" sz="2000" dirty="0"/>
                <a:t> SSD</a:t>
              </a:r>
              <a:endParaRPr lang="ko-KR" altLang="en-US" sz="20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165C725-7BCB-56BE-AFD8-147FF6A5F2AD}"/>
              </a:ext>
            </a:extLst>
          </p:cNvPr>
          <p:cNvGrpSpPr/>
          <p:nvPr/>
        </p:nvGrpSpPr>
        <p:grpSpPr>
          <a:xfrm>
            <a:off x="4611120" y="2961727"/>
            <a:ext cx="1984840" cy="1984840"/>
            <a:chOff x="6839603" y="2846536"/>
            <a:chExt cx="1984840" cy="1984840"/>
          </a:xfrm>
        </p:grpSpPr>
        <p:pic>
          <p:nvPicPr>
            <p:cNvPr id="28" name="그래픽 27" descr="모니터 단색으로 채워진">
              <a:extLst>
                <a:ext uri="{FF2B5EF4-FFF2-40B4-BE49-F238E27FC236}">
                  <a16:creationId xmlns:a16="http://schemas.microsoft.com/office/drawing/2014/main" id="{A08403F7-B2F5-C6C5-52BE-F046386FE7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6B5208A-A6F5-CB4A-485A-5737240B1DD8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7456381-C170-0714-7746-DEFEC10378EF}"/>
              </a:ext>
            </a:extLst>
          </p:cNvPr>
          <p:cNvSpPr txBox="1"/>
          <p:nvPr/>
        </p:nvSpPr>
        <p:spPr>
          <a:xfrm>
            <a:off x="6812642" y="3730440"/>
            <a:ext cx="2340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Argumented</a:t>
            </a:r>
            <a:r>
              <a:rPr lang="en-US" altLang="ko-KR" dirty="0"/>
              <a:t> Prompt</a:t>
            </a:r>
            <a:endParaRPr lang="ko-KR" altLang="en-US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F545756-85C8-42DB-DE8F-D0FF7BF5CB12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9152898" y="3915106"/>
            <a:ext cx="5621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144F1E5-B837-B34C-0550-707EAED32281}"/>
              </a:ext>
            </a:extLst>
          </p:cNvPr>
          <p:cNvSpPr txBox="1"/>
          <p:nvPr/>
        </p:nvSpPr>
        <p:spPr>
          <a:xfrm>
            <a:off x="2421290" y="2390301"/>
            <a:ext cx="2189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Token ID Sequence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6C7585B-650E-B339-5419-ABFEE601CFA4}"/>
              </a:ext>
            </a:extLst>
          </p:cNvPr>
          <p:cNvGrpSpPr/>
          <p:nvPr/>
        </p:nvGrpSpPr>
        <p:grpSpPr>
          <a:xfrm>
            <a:off x="2159208" y="2315536"/>
            <a:ext cx="1121149" cy="826639"/>
            <a:chOff x="1942324" y="2006907"/>
            <a:chExt cx="1121149" cy="826639"/>
          </a:xfrm>
        </p:grpSpPr>
        <p:pic>
          <p:nvPicPr>
            <p:cNvPr id="8" name="그래픽 7" descr="용지 윤곽선">
              <a:extLst>
                <a:ext uri="{FF2B5EF4-FFF2-40B4-BE49-F238E27FC236}">
                  <a16:creationId xmlns:a16="http://schemas.microsoft.com/office/drawing/2014/main" id="{55028282-46F6-732C-B213-C4989A6F2D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45190" y="2006907"/>
              <a:ext cx="636511" cy="63651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BDDFBC-7BC0-E086-B3EE-81E4FC095EF3}"/>
                </a:ext>
              </a:extLst>
            </p:cNvPr>
            <p:cNvSpPr txBox="1"/>
            <p:nvPr/>
          </p:nvSpPr>
          <p:spPr>
            <a:xfrm>
              <a:off x="1942324" y="2525769"/>
              <a:ext cx="1121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/>
                <a:t>output.bin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43210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BD6D0-FF9E-1626-45BF-56EA9882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1EF44F21-ECC3-6BFE-6DD7-181738F28C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725310" y="2407886"/>
            <a:ext cx="2499148" cy="2499148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235D2FB-BD63-75CC-2078-2FC20C37A0C7}"/>
              </a:ext>
            </a:extLst>
          </p:cNvPr>
          <p:cNvCxnSpPr/>
          <p:nvPr/>
        </p:nvCxnSpPr>
        <p:spPr>
          <a:xfrm>
            <a:off x="6640747" y="1219433"/>
            <a:ext cx="0" cy="4584357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8BC2199A-375B-1B38-272A-8247311056F4}"/>
              </a:ext>
            </a:extLst>
          </p:cNvPr>
          <p:cNvGrpSpPr/>
          <p:nvPr/>
        </p:nvGrpSpPr>
        <p:grpSpPr>
          <a:xfrm>
            <a:off x="3767772" y="3004975"/>
            <a:ext cx="1984840" cy="1984840"/>
            <a:chOff x="6839603" y="2846536"/>
            <a:chExt cx="1984840" cy="1984840"/>
          </a:xfrm>
        </p:grpSpPr>
        <p:pic>
          <p:nvPicPr>
            <p:cNvPr id="4" name="그래픽 3" descr="모니터 단색으로 채워진">
              <a:extLst>
                <a:ext uri="{FF2B5EF4-FFF2-40B4-BE49-F238E27FC236}">
                  <a16:creationId xmlns:a16="http://schemas.microsoft.com/office/drawing/2014/main" id="{25D2F02F-9987-F6FE-E63A-B3FF7B2AF1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39603" y="2846536"/>
              <a:ext cx="1984840" cy="19848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5306E8-3491-363E-ACFD-EEC90E6AEEFE}"/>
                </a:ext>
              </a:extLst>
            </p:cNvPr>
            <p:cNvSpPr txBox="1"/>
            <p:nvPr/>
          </p:nvSpPr>
          <p:spPr>
            <a:xfrm>
              <a:off x="7209705" y="3307473"/>
              <a:ext cx="12446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RAG</a:t>
              </a:r>
              <a:endPara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404AF07-B0CF-574E-1602-F0ADB8E78ACA}"/>
              </a:ext>
            </a:extLst>
          </p:cNvPr>
          <p:cNvSpPr txBox="1"/>
          <p:nvPr/>
        </p:nvSpPr>
        <p:spPr>
          <a:xfrm>
            <a:off x="2209968" y="1329453"/>
            <a:ext cx="2989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Storage Server</a:t>
            </a:r>
            <a:endParaRPr lang="ko-KR" altLang="en-US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D8F1CD-AD24-AC24-D740-3027B2C457BD}"/>
              </a:ext>
            </a:extLst>
          </p:cNvPr>
          <p:cNvSpPr txBox="1"/>
          <p:nvPr/>
        </p:nvSpPr>
        <p:spPr>
          <a:xfrm>
            <a:off x="8432908" y="1314064"/>
            <a:ext cx="10839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3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D4774CE-D3F8-10D4-680C-33921534F048}"/>
              </a:ext>
            </a:extLst>
          </p:cNvPr>
          <p:cNvSpPr/>
          <p:nvPr/>
        </p:nvSpPr>
        <p:spPr>
          <a:xfrm>
            <a:off x="5499741" y="5316834"/>
            <a:ext cx="2336796" cy="32173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CF2A9D-37B3-B60D-2AB5-2A5437752E8A}"/>
              </a:ext>
            </a:extLst>
          </p:cNvPr>
          <p:cNvSpPr txBox="1"/>
          <p:nvPr/>
        </p:nvSpPr>
        <p:spPr>
          <a:xfrm>
            <a:off x="5819848" y="4913084"/>
            <a:ext cx="16417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 err="1"/>
              <a:t>NVMe-oF</a:t>
            </a:r>
            <a:endParaRPr lang="ko-KR" altLang="en-US" sz="25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675F5F-406C-8EAB-7ADD-B00F5697F337}"/>
              </a:ext>
            </a:extLst>
          </p:cNvPr>
          <p:cNvSpPr txBox="1"/>
          <p:nvPr/>
        </p:nvSpPr>
        <p:spPr>
          <a:xfrm>
            <a:off x="2700011" y="2128944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NVMe</a:t>
            </a:r>
            <a:r>
              <a:rPr lang="ko-KR" altLang="en-US" dirty="0"/>
              <a:t> </a:t>
            </a:r>
            <a:r>
              <a:rPr lang="en-US" altLang="ko-KR" dirty="0"/>
              <a:t>Completion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9DD8A9-A06B-E833-45AD-436F6B7119AA}"/>
              </a:ext>
            </a:extLst>
          </p:cNvPr>
          <p:cNvSpPr txBox="1"/>
          <p:nvPr/>
        </p:nvSpPr>
        <p:spPr>
          <a:xfrm>
            <a:off x="541866" y="548443"/>
            <a:ext cx="5017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Storage Server</a:t>
            </a:r>
            <a:r>
              <a:rPr lang="ko-KR" altLang="en-US" dirty="0"/>
              <a:t>가 </a:t>
            </a:r>
            <a:r>
              <a:rPr lang="en-US" altLang="ko-KR" dirty="0" err="1"/>
              <a:t>NVMe</a:t>
            </a:r>
            <a:r>
              <a:rPr lang="en-US" altLang="ko-KR" dirty="0"/>
              <a:t> Completion</a:t>
            </a:r>
            <a:r>
              <a:rPr lang="ko-KR" altLang="en-US" dirty="0"/>
              <a:t>을 보냄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2061279-BEF6-3639-6170-057CBB556951}"/>
              </a:ext>
            </a:extLst>
          </p:cNvPr>
          <p:cNvGrpSpPr/>
          <p:nvPr/>
        </p:nvGrpSpPr>
        <p:grpSpPr>
          <a:xfrm>
            <a:off x="1905958" y="3153793"/>
            <a:ext cx="1598148" cy="1888398"/>
            <a:chOff x="820438" y="2703222"/>
            <a:chExt cx="2155045" cy="2542362"/>
          </a:xfrm>
        </p:grpSpPr>
        <p:pic>
          <p:nvPicPr>
            <p:cNvPr id="13" name="그래픽 12" descr="데이터베이스 단색으로 채워진">
              <a:extLst>
                <a:ext uri="{FF2B5EF4-FFF2-40B4-BE49-F238E27FC236}">
                  <a16:creationId xmlns:a16="http://schemas.microsoft.com/office/drawing/2014/main" id="{C4214171-C940-1857-68E0-DE3447A943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57DDC1-777B-82A4-A98D-2F866D83BAB7}"/>
                </a:ext>
              </a:extLst>
            </p:cNvPr>
            <p:cNvSpPr txBox="1"/>
            <p:nvPr/>
          </p:nvSpPr>
          <p:spPr>
            <a:xfrm>
              <a:off x="927626" y="4706913"/>
              <a:ext cx="1980451" cy="53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 err="1"/>
                <a:t>NVMe</a:t>
              </a:r>
              <a:r>
                <a:rPr lang="en-US" altLang="ko-KR" sz="2000" dirty="0"/>
                <a:t> SSD</a:t>
              </a:r>
              <a:endParaRPr lang="ko-KR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981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48148E-6 L 0.42331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20634-64C3-B65C-DBE5-E0A09F86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34929A6B-FB2E-6ECE-2586-855DE3CAC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041726" y="2457313"/>
            <a:ext cx="2499148" cy="24991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EE5E4A-ADFE-8F1E-AD31-48076D74D494}"/>
              </a:ext>
            </a:extLst>
          </p:cNvPr>
          <p:cNvSpPr txBox="1"/>
          <p:nvPr/>
        </p:nvSpPr>
        <p:spPr>
          <a:xfrm>
            <a:off x="7652360" y="1476869"/>
            <a:ext cx="15055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4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902E26-ADD8-D64E-6A31-A77EE7AA5B79}"/>
              </a:ext>
            </a:extLst>
          </p:cNvPr>
          <p:cNvGrpSpPr/>
          <p:nvPr/>
        </p:nvGrpSpPr>
        <p:grpSpPr>
          <a:xfrm>
            <a:off x="3651922" y="1845066"/>
            <a:ext cx="1314305" cy="1504284"/>
            <a:chOff x="3651922" y="1845066"/>
            <a:chExt cx="1314305" cy="1504284"/>
          </a:xfrm>
        </p:grpSpPr>
        <p:pic>
          <p:nvPicPr>
            <p:cNvPr id="3" name="그래픽 2" descr="용지 윤곽선">
              <a:extLst>
                <a:ext uri="{FF2B5EF4-FFF2-40B4-BE49-F238E27FC236}">
                  <a16:creationId xmlns:a16="http://schemas.microsoft.com/office/drawing/2014/main" id="{BB83A6A2-D20C-29AA-5B59-8263219742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96827" y="1845066"/>
              <a:ext cx="1224494" cy="122449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45E54C-BA69-7FA7-1806-0B7DE473357C}"/>
                </a:ext>
              </a:extLst>
            </p:cNvPr>
            <p:cNvSpPr txBox="1"/>
            <p:nvPr/>
          </p:nvSpPr>
          <p:spPr>
            <a:xfrm>
              <a:off x="3651922" y="2980018"/>
              <a:ext cx="131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output.bin</a:t>
              </a:r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0BD1590-6BBD-3AE0-E1F9-73920D987249}"/>
              </a:ext>
            </a:extLst>
          </p:cNvPr>
          <p:cNvGrpSpPr/>
          <p:nvPr/>
        </p:nvGrpSpPr>
        <p:grpSpPr>
          <a:xfrm>
            <a:off x="3147753" y="3444913"/>
            <a:ext cx="2215457" cy="2557689"/>
            <a:chOff x="820438" y="2703222"/>
            <a:chExt cx="2215457" cy="2557689"/>
          </a:xfrm>
        </p:grpSpPr>
        <p:pic>
          <p:nvPicPr>
            <p:cNvPr id="11" name="그래픽 10" descr="데이터베이스 단색으로 채워진">
              <a:extLst>
                <a:ext uri="{FF2B5EF4-FFF2-40B4-BE49-F238E27FC236}">
                  <a16:creationId xmlns:a16="http://schemas.microsoft.com/office/drawing/2014/main" id="{A03C7A31-172A-48F2-F907-7BB2160D57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0438" y="2703222"/>
              <a:ext cx="2155045" cy="215504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513975D-7C11-BC26-506D-8DB9A65001A8}"/>
                </a:ext>
              </a:extLst>
            </p:cNvPr>
            <p:cNvSpPr txBox="1"/>
            <p:nvPr/>
          </p:nvSpPr>
          <p:spPr>
            <a:xfrm>
              <a:off x="927626" y="4706913"/>
              <a:ext cx="210826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000" dirty="0" err="1"/>
                <a:t>NVMe</a:t>
              </a:r>
              <a:r>
                <a:rPr lang="en-US" altLang="ko-KR" sz="3000" dirty="0"/>
                <a:t> SSD</a:t>
              </a:r>
              <a:endParaRPr lang="ko-KR" altLang="en-US" sz="30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97FB64B-B37E-B90A-D0CB-5F92646BEB5B}"/>
              </a:ext>
            </a:extLst>
          </p:cNvPr>
          <p:cNvSpPr txBox="1"/>
          <p:nvPr/>
        </p:nvSpPr>
        <p:spPr>
          <a:xfrm>
            <a:off x="541866" y="548443"/>
            <a:ext cx="7516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7. Edge</a:t>
            </a:r>
            <a:r>
              <a:rPr lang="ko-KR" altLang="en-US" dirty="0"/>
              <a:t>가 </a:t>
            </a:r>
            <a:r>
              <a:rPr lang="en-US" altLang="ko-KR" dirty="0" err="1"/>
              <a:t>output.bin</a:t>
            </a:r>
            <a:r>
              <a:rPr lang="ko-KR" altLang="en-US" dirty="0"/>
              <a:t>을 읽어 </a:t>
            </a:r>
            <a:r>
              <a:rPr lang="en-US" altLang="ko-KR" dirty="0"/>
              <a:t>Token Sequence</a:t>
            </a:r>
            <a:r>
              <a:rPr lang="ko-KR" altLang="en-US" dirty="0"/>
              <a:t>를 가져와 </a:t>
            </a:r>
            <a:r>
              <a:rPr lang="en-US" altLang="ko-KR" dirty="0"/>
              <a:t>LLM </a:t>
            </a:r>
            <a:r>
              <a:rPr lang="ko-KR" altLang="en-US" dirty="0"/>
              <a:t>추론 수행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39A8F-0D9D-ED64-1E7D-90CC79DDE438}"/>
              </a:ext>
            </a:extLst>
          </p:cNvPr>
          <p:cNvSpPr txBox="1"/>
          <p:nvPr/>
        </p:nvSpPr>
        <p:spPr>
          <a:xfrm>
            <a:off x="3129251" y="2299076"/>
            <a:ext cx="2828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Token Sequence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0309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3.7037E-7 L 0.30338 0.3800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69" y="19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F7BA-9A62-60E4-FC06-9F6C96745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 descr="인공 지능 윤곽선">
            <a:extLst>
              <a:ext uri="{FF2B5EF4-FFF2-40B4-BE49-F238E27FC236}">
                <a16:creationId xmlns:a16="http://schemas.microsoft.com/office/drawing/2014/main" id="{FEA8454A-4B97-CEC1-236B-45CED55A9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725310" y="2407886"/>
            <a:ext cx="2499148" cy="24991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CA9284-70EC-CC38-5C7D-BB285D25A63F}"/>
              </a:ext>
            </a:extLst>
          </p:cNvPr>
          <p:cNvSpPr txBox="1"/>
          <p:nvPr/>
        </p:nvSpPr>
        <p:spPr>
          <a:xfrm>
            <a:off x="8222114" y="1298061"/>
            <a:ext cx="15055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Edge</a:t>
            </a:r>
            <a:endParaRPr lang="ko-KR" altLang="en-US" sz="4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그래픽 17" descr="사용자 단색으로 채워진">
            <a:extLst>
              <a:ext uri="{FF2B5EF4-FFF2-40B4-BE49-F238E27FC236}">
                <a16:creationId xmlns:a16="http://schemas.microsoft.com/office/drawing/2014/main" id="{20FD4589-BFE6-55DC-CCD7-8010F8295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6134" y="2764968"/>
            <a:ext cx="2142066" cy="2142066"/>
          </a:xfrm>
          <a:prstGeom prst="rect">
            <a:avLst/>
          </a:prstGeom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5FE1EAD1-B4F6-1F92-94B5-9B6512931FD8}"/>
              </a:ext>
            </a:extLst>
          </p:cNvPr>
          <p:cNvSpPr/>
          <p:nvPr/>
        </p:nvSpPr>
        <p:spPr>
          <a:xfrm flipH="1">
            <a:off x="3750733" y="3581260"/>
            <a:ext cx="3522133" cy="457340"/>
          </a:xfrm>
          <a:prstGeom prst="rightArrow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A93DDA-58A9-3776-31D6-FF2AE5E81AFE}"/>
              </a:ext>
            </a:extLst>
          </p:cNvPr>
          <p:cNvSpPr txBox="1"/>
          <p:nvPr/>
        </p:nvSpPr>
        <p:spPr>
          <a:xfrm>
            <a:off x="4738956" y="3134240"/>
            <a:ext cx="1365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Answer</a:t>
            </a:r>
            <a:endParaRPr lang="ko-KR" alt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6F7095-1D3A-E550-97D2-C3C4225CAFDC}"/>
              </a:ext>
            </a:extLst>
          </p:cNvPr>
          <p:cNvSpPr txBox="1"/>
          <p:nvPr/>
        </p:nvSpPr>
        <p:spPr>
          <a:xfrm>
            <a:off x="541866" y="548443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9. </a:t>
            </a:r>
            <a:r>
              <a:rPr lang="ko-KR" altLang="en-US" dirty="0"/>
              <a:t>최종 답변을 생성한다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827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D0815CA-46F8-7E86-12D0-177CEA9BB859}"/>
              </a:ext>
            </a:extLst>
          </p:cNvPr>
          <p:cNvGrpSpPr/>
          <p:nvPr/>
        </p:nvGrpSpPr>
        <p:grpSpPr>
          <a:xfrm>
            <a:off x="364393" y="1589221"/>
            <a:ext cx="4346703" cy="4888248"/>
            <a:chOff x="8311834" y="23600263"/>
            <a:chExt cx="7066288" cy="4710814"/>
          </a:xfrm>
        </p:grpSpPr>
        <p:graphicFrame>
          <p:nvGraphicFramePr>
            <p:cNvPr id="3" name="차트 2">
              <a:extLst>
                <a:ext uri="{FF2B5EF4-FFF2-40B4-BE49-F238E27FC236}">
                  <a16:creationId xmlns:a16="http://schemas.microsoft.com/office/drawing/2014/main" id="{09A8465B-A2FE-70E0-B1A3-1CFB14ED3F7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5453252"/>
                </p:ext>
              </p:extLst>
            </p:nvPr>
          </p:nvGraphicFramePr>
          <p:xfrm>
            <a:off x="8993179" y="23600263"/>
            <a:ext cx="6384943" cy="471081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C227AA7-03B4-6FC1-A5CA-1EC33B359822}"/>
                </a:ext>
              </a:extLst>
            </p:cNvPr>
            <p:cNvSpPr txBox="1"/>
            <p:nvPr/>
          </p:nvSpPr>
          <p:spPr>
            <a:xfrm rot="10800000">
              <a:off x="8311834" y="24626828"/>
              <a:ext cx="647958" cy="221679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2000" dirty="0"/>
                <a:t>Data movement (MB)</a:t>
              </a:r>
              <a:endParaRPr lang="ko-KR" altLang="en-US" sz="2000" dirty="0"/>
            </a:p>
          </p:txBody>
        </p:sp>
      </p:grp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BCF26480-8C1D-47CB-A7E9-B05FB2F843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6800819"/>
              </p:ext>
            </p:extLst>
          </p:nvPr>
        </p:nvGraphicFramePr>
        <p:xfrm>
          <a:off x="6096001" y="1589221"/>
          <a:ext cx="5731607" cy="4496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CAA8EC0-8747-58B5-06E5-23C13A32DBF8}"/>
              </a:ext>
            </a:extLst>
          </p:cNvPr>
          <p:cNvSpPr txBox="1"/>
          <p:nvPr/>
        </p:nvSpPr>
        <p:spPr>
          <a:xfrm>
            <a:off x="939114" y="605480"/>
            <a:ext cx="21371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실험 결과</a:t>
            </a:r>
          </a:p>
        </p:txBody>
      </p:sp>
    </p:spTree>
    <p:extLst>
      <p:ext uri="{BB962C8B-B14F-4D97-AF65-F5344CB8AC3E}">
        <p14:creationId xmlns:p14="http://schemas.microsoft.com/office/powerpoint/2010/main" val="2431456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542D-D57C-09DE-7744-45E6FD2DB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379498-8BFB-1587-7922-7C91DC9E4A78}"/>
              </a:ext>
            </a:extLst>
          </p:cNvPr>
          <p:cNvSpPr txBox="1"/>
          <p:nvPr/>
        </p:nvSpPr>
        <p:spPr>
          <a:xfrm>
            <a:off x="939114" y="605480"/>
            <a:ext cx="108234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결론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0C7D1-7950-2D57-E661-DAD04567BE65}"/>
              </a:ext>
            </a:extLst>
          </p:cNvPr>
          <p:cNvSpPr txBox="1"/>
          <p:nvPr/>
        </p:nvSpPr>
        <p:spPr>
          <a:xfrm>
            <a:off x="800864" y="2228671"/>
            <a:ext cx="9714519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3000" dirty="0"/>
              <a:t>대규모 </a:t>
            </a:r>
            <a:r>
              <a:rPr lang="en-US" altLang="ko-KR" sz="3000" dirty="0"/>
              <a:t>Vector DB</a:t>
            </a:r>
            <a:r>
              <a:rPr lang="ko-KR" altLang="en-US" sz="3000" dirty="0"/>
              <a:t>를 </a:t>
            </a:r>
            <a:r>
              <a:rPr lang="en-US" altLang="ko-KR" sz="3000" dirty="0"/>
              <a:t>Storage Server</a:t>
            </a:r>
            <a:r>
              <a:rPr lang="ko-KR" altLang="en-US" sz="3000" dirty="0"/>
              <a:t>에 배치</a:t>
            </a:r>
            <a:endParaRPr lang="en-US" altLang="ko-KR" sz="30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3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3000" dirty="0"/>
              <a:t>데이터가 있는 </a:t>
            </a:r>
            <a:r>
              <a:rPr lang="en-US" altLang="ko-KR" sz="3000" dirty="0" err="1"/>
              <a:t>Stroage</a:t>
            </a:r>
            <a:r>
              <a:rPr lang="en-US" altLang="ko-KR" sz="3000" dirty="0"/>
              <a:t> Server</a:t>
            </a:r>
            <a:r>
              <a:rPr lang="ko-KR" altLang="en-US" sz="3000" dirty="0"/>
              <a:t>에서 </a:t>
            </a:r>
            <a:r>
              <a:rPr lang="en-US" altLang="ko-KR" sz="3000" dirty="0"/>
              <a:t>RAG </a:t>
            </a:r>
            <a:r>
              <a:rPr lang="ko-KR" altLang="en-US" sz="3000" dirty="0"/>
              <a:t>수행</a:t>
            </a:r>
            <a:endParaRPr lang="en-US" altLang="ko-KR" sz="30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3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3000" dirty="0"/>
              <a:t>전용 가속기 없이 </a:t>
            </a:r>
            <a:r>
              <a:rPr lang="en-US" altLang="ko-KR" sz="3000" dirty="0" err="1"/>
              <a:t>NVMe-oF</a:t>
            </a:r>
            <a:r>
              <a:rPr lang="ko-KR" altLang="en-US" sz="3000" dirty="0"/>
              <a:t>와 </a:t>
            </a:r>
            <a:r>
              <a:rPr lang="en-US" altLang="ko-KR" sz="3000" dirty="0"/>
              <a:t>SPDK</a:t>
            </a:r>
            <a:r>
              <a:rPr lang="ko-KR" altLang="en-US" sz="3000" dirty="0"/>
              <a:t>를 기반으로 구현</a:t>
            </a:r>
          </a:p>
        </p:txBody>
      </p:sp>
    </p:spTree>
    <p:extLst>
      <p:ext uri="{BB962C8B-B14F-4D97-AF65-F5344CB8AC3E}">
        <p14:creationId xmlns:p14="http://schemas.microsoft.com/office/powerpoint/2010/main" val="322003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</TotalTime>
  <Words>450</Words>
  <Application>Microsoft Office PowerPoint</Application>
  <PresentationFormat>와이드스크린</PresentationFormat>
  <Paragraphs>146</Paragraphs>
  <Slides>23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Wingdings</vt:lpstr>
      <vt:lpstr>Office 테마</vt:lpstr>
      <vt:lpstr>Edge 환경을 위한 RAG Pipeline Offloading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yeeun na</dc:creator>
  <cp:lastModifiedBy>yeeun na</cp:lastModifiedBy>
  <cp:revision>1</cp:revision>
  <dcterms:created xsi:type="dcterms:W3CDTF">2026-09-16T21:39:37Z</dcterms:created>
  <dcterms:modified xsi:type="dcterms:W3CDTF">2026-09-18T10:07:57Z</dcterms:modified>
</cp:coreProperties>
</file>